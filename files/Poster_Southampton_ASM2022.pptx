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4F4"/>
    <a:srgbClr val="003E74"/>
    <a:srgbClr val="000B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5890"/>
  </p:normalViewPr>
  <p:slideViewPr>
    <p:cSldViewPr snapToGrid="0">
      <p:cViewPr varScale="1">
        <p:scale>
          <a:sx n="25" d="100"/>
          <a:sy n="25" d="100"/>
        </p:scale>
        <p:origin x="306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GB"/>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5A8C2AC-3883-3643-887C-8FE42E53CB8D}" type="datetimeFigureOut">
              <a:rPr lang="en-GB" smtClean="0"/>
              <a:t>11/10/2026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3087540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A8C2AC-3883-3643-887C-8FE42E53CB8D}" type="datetimeFigureOut">
              <a:rPr lang="en-GB" smtClean="0"/>
              <a:t>11/10/2026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2048243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GB"/>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A8C2AC-3883-3643-887C-8FE42E53CB8D}" type="datetimeFigureOut">
              <a:rPr lang="en-GB" smtClean="0"/>
              <a:t>11/10/2026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83622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5A8C2AC-3883-3643-887C-8FE42E53CB8D}" type="datetimeFigureOut">
              <a:rPr lang="en-GB" smtClean="0"/>
              <a:t>11/10/2026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573729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5A8C2AC-3883-3643-887C-8FE42E53CB8D}" type="datetimeFigureOut">
              <a:rPr lang="en-GB" smtClean="0"/>
              <a:t>11/10/2026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2535609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5A8C2AC-3883-3643-887C-8FE42E53CB8D}" type="datetimeFigureOut">
              <a:rPr lang="en-GB" smtClean="0"/>
              <a:t>11/10/2026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62819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A8C2AC-3883-3643-887C-8FE42E53CB8D}" type="datetimeFigureOut">
              <a:rPr lang="en-GB" smtClean="0"/>
              <a:t>11/10/2026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32884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05A8C2AC-3883-3643-887C-8FE42E53CB8D}" type="datetimeFigureOut">
              <a:rPr lang="en-GB" smtClean="0"/>
              <a:t>11/10/2026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285724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GB"/>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05A8C2AC-3883-3643-887C-8FE42E53CB8D}" type="datetimeFigureOut">
              <a:rPr lang="en-GB" smtClean="0"/>
              <a:t>11/10/2026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377035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A8C2AC-3883-3643-887C-8FE42E53CB8D}" type="datetimeFigureOut">
              <a:rPr lang="en-GB" smtClean="0"/>
              <a:t>11/10/2026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677138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A8C2AC-3883-3643-887C-8FE42E53CB8D}" type="datetimeFigureOut">
              <a:rPr lang="en-GB" smtClean="0"/>
              <a:t>11/10/2026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F8E86F-ED60-9445-AD25-99767D2AB351}" type="slidenum">
              <a:rPr lang="en-GB" smtClean="0"/>
              <a:t>‹#›</a:t>
            </a:fld>
            <a:endParaRPr lang="en-GB"/>
          </a:p>
        </p:txBody>
      </p:sp>
    </p:spTree>
    <p:extLst>
      <p:ext uri="{BB962C8B-B14F-4D97-AF65-F5344CB8AC3E}">
        <p14:creationId xmlns:p14="http://schemas.microsoft.com/office/powerpoint/2010/main" val="427737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05A8C2AC-3883-3643-887C-8FE42E53CB8D}" type="datetimeFigureOut">
              <a:rPr lang="en-GB" smtClean="0"/>
              <a:t>11/10/2026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ABF8E86F-ED60-9445-AD25-99767D2AB351}" type="slidenum">
              <a:rPr lang="en-GB" smtClean="0"/>
              <a:t>‹#›</a:t>
            </a:fld>
            <a:endParaRPr lang="en-GB"/>
          </a:p>
        </p:txBody>
      </p:sp>
    </p:spTree>
    <p:extLst>
      <p:ext uri="{BB962C8B-B14F-4D97-AF65-F5344CB8AC3E}">
        <p14:creationId xmlns:p14="http://schemas.microsoft.com/office/powerpoint/2010/main" val="38282569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 name="Picture 166">
            <a:extLst>
              <a:ext uri="{FF2B5EF4-FFF2-40B4-BE49-F238E27FC236}">
                <a16:creationId xmlns:a16="http://schemas.microsoft.com/office/drawing/2014/main" id="{A6658683-8EC3-C01F-E9F4-F7AD35D0BEAD}"/>
              </a:ext>
            </a:extLst>
          </p:cNvPr>
          <p:cNvPicPr>
            <a:picLocks noChangeAspect="1"/>
          </p:cNvPicPr>
          <p:nvPr/>
        </p:nvPicPr>
        <p:blipFill>
          <a:blip r:embed="rId2"/>
          <a:stretch>
            <a:fillRect/>
          </a:stretch>
        </p:blipFill>
        <p:spPr>
          <a:xfrm>
            <a:off x="17857996" y="270793"/>
            <a:ext cx="3049542" cy="1642287"/>
          </a:xfrm>
          <a:prstGeom prst="rect">
            <a:avLst/>
          </a:prstGeom>
        </p:spPr>
      </p:pic>
      <p:grpSp>
        <p:nvGrpSpPr>
          <p:cNvPr id="165" name="Group 164">
            <a:extLst>
              <a:ext uri="{FF2B5EF4-FFF2-40B4-BE49-F238E27FC236}">
                <a16:creationId xmlns:a16="http://schemas.microsoft.com/office/drawing/2014/main" id="{65CF7D13-3B0B-CF95-13DB-4AC3766AAB40}"/>
              </a:ext>
            </a:extLst>
          </p:cNvPr>
          <p:cNvGrpSpPr/>
          <p:nvPr/>
        </p:nvGrpSpPr>
        <p:grpSpPr>
          <a:xfrm>
            <a:off x="6563111" y="19807247"/>
            <a:ext cx="7202133" cy="8410376"/>
            <a:chOff x="6464491" y="20194162"/>
            <a:chExt cx="7202133" cy="8410376"/>
          </a:xfrm>
        </p:grpSpPr>
        <p:grpSp>
          <p:nvGrpSpPr>
            <p:cNvPr id="162" name="Group 161">
              <a:extLst>
                <a:ext uri="{FF2B5EF4-FFF2-40B4-BE49-F238E27FC236}">
                  <a16:creationId xmlns:a16="http://schemas.microsoft.com/office/drawing/2014/main" id="{C4379ACF-8138-9C7D-7189-7BF720100773}"/>
                </a:ext>
              </a:extLst>
            </p:cNvPr>
            <p:cNvGrpSpPr/>
            <p:nvPr/>
          </p:nvGrpSpPr>
          <p:grpSpPr>
            <a:xfrm>
              <a:off x="6464491" y="20194162"/>
              <a:ext cx="7202133" cy="7389298"/>
              <a:chOff x="6959469" y="20464917"/>
              <a:chExt cx="7202133" cy="7389298"/>
            </a:xfrm>
          </p:grpSpPr>
          <p:pic>
            <p:nvPicPr>
              <p:cNvPr id="161" name="Picture 160" descr="Chart, line chart&#10;&#10;Description automatically generated">
                <a:extLst>
                  <a:ext uri="{FF2B5EF4-FFF2-40B4-BE49-F238E27FC236}">
                    <a16:creationId xmlns:a16="http://schemas.microsoft.com/office/drawing/2014/main" id="{760CEBAF-1D0F-BA88-65E1-C32E38ACE3D3}"/>
                  </a:ext>
                </a:extLst>
              </p:cNvPr>
              <p:cNvPicPr>
                <a:picLocks noChangeAspect="1"/>
              </p:cNvPicPr>
              <p:nvPr/>
            </p:nvPicPr>
            <p:blipFill rotWithShape="1">
              <a:blip r:embed="rId3"/>
              <a:srcRect l="5484"/>
              <a:stretch/>
            </p:blipFill>
            <p:spPr>
              <a:xfrm>
                <a:off x="6959469" y="20464917"/>
                <a:ext cx="7202133" cy="3810000"/>
              </a:xfrm>
              <a:prstGeom prst="rect">
                <a:avLst/>
              </a:prstGeom>
            </p:spPr>
          </p:pic>
          <p:pic>
            <p:nvPicPr>
              <p:cNvPr id="159" name="Picture 158" descr="Chart, line chart&#10;&#10;Description automatically generated">
                <a:extLst>
                  <a:ext uri="{FF2B5EF4-FFF2-40B4-BE49-F238E27FC236}">
                    <a16:creationId xmlns:a16="http://schemas.microsoft.com/office/drawing/2014/main" id="{672EDE58-9F77-5BEA-439E-97291B993AAE}"/>
                  </a:ext>
                </a:extLst>
              </p:cNvPr>
              <p:cNvPicPr>
                <a:picLocks noChangeAspect="1"/>
              </p:cNvPicPr>
              <p:nvPr/>
            </p:nvPicPr>
            <p:blipFill rotWithShape="1">
              <a:blip r:embed="rId4"/>
              <a:srcRect l="6481"/>
              <a:stretch/>
            </p:blipFill>
            <p:spPr>
              <a:xfrm>
                <a:off x="7030878" y="24044215"/>
                <a:ext cx="7126158" cy="3810000"/>
              </a:xfrm>
              <a:prstGeom prst="rect">
                <a:avLst/>
              </a:prstGeom>
            </p:spPr>
          </p:pic>
        </p:grpSp>
        <p:sp>
          <p:nvSpPr>
            <p:cNvPr id="132" name="TextBox 131">
              <a:extLst>
                <a:ext uri="{FF2B5EF4-FFF2-40B4-BE49-F238E27FC236}">
                  <a16:creationId xmlns:a16="http://schemas.microsoft.com/office/drawing/2014/main" id="{3FA8CB67-60F6-F456-6997-971BB34B7208}"/>
                </a:ext>
              </a:extLst>
            </p:cNvPr>
            <p:cNvSpPr txBox="1"/>
            <p:nvPr/>
          </p:nvSpPr>
          <p:spPr>
            <a:xfrm>
              <a:off x="6558346" y="27681208"/>
              <a:ext cx="6430833" cy="923330"/>
            </a:xfrm>
            <a:prstGeom prst="rect">
              <a:avLst/>
            </a:prstGeom>
            <a:noFill/>
          </p:spPr>
          <p:txBody>
            <a:bodyPr wrap="square" rtlCol="0">
              <a:spAutoFit/>
            </a:bodyPr>
            <a:lstStyle/>
            <a:p>
              <a:pPr algn="just"/>
              <a:r>
                <a:rPr lang="en-GB" b="1" dirty="0">
                  <a:latin typeface="Times New Roman" panose="02020603050405020304" pitchFamily="18" charset="0"/>
                  <a:cs typeface="Times New Roman" panose="02020603050405020304" pitchFamily="18" charset="0"/>
                </a:rPr>
                <a:t>Figure 3. </a:t>
              </a:r>
              <a:r>
                <a:rPr lang="en-GB" dirty="0">
                  <a:latin typeface="Times New Roman" panose="02020603050405020304" pitchFamily="18" charset="0"/>
                  <a:cs typeface="Times New Roman" panose="02020603050405020304" pitchFamily="18" charset="0"/>
                </a:rPr>
                <a:t>Aspect of the frequency shift applied to the sound which were chosen by the participant: for the sound material (3A) and the degree of current spread (3B).</a:t>
              </a:r>
            </a:p>
          </p:txBody>
        </p:sp>
      </p:grpSp>
      <p:grpSp>
        <p:nvGrpSpPr>
          <p:cNvPr id="166" name="Group 165">
            <a:extLst>
              <a:ext uri="{FF2B5EF4-FFF2-40B4-BE49-F238E27FC236}">
                <a16:creationId xmlns:a16="http://schemas.microsoft.com/office/drawing/2014/main" id="{C80A14EA-E125-5F9F-D921-83B70FA966D8}"/>
              </a:ext>
            </a:extLst>
          </p:cNvPr>
          <p:cNvGrpSpPr/>
          <p:nvPr/>
        </p:nvGrpSpPr>
        <p:grpSpPr>
          <a:xfrm>
            <a:off x="13375197" y="18679229"/>
            <a:ext cx="7620000" cy="9538394"/>
            <a:chOff x="13315676" y="19409747"/>
            <a:chExt cx="7620000" cy="9538394"/>
          </a:xfrm>
        </p:grpSpPr>
        <p:grpSp>
          <p:nvGrpSpPr>
            <p:cNvPr id="163" name="Group 162">
              <a:extLst>
                <a:ext uri="{FF2B5EF4-FFF2-40B4-BE49-F238E27FC236}">
                  <a16:creationId xmlns:a16="http://schemas.microsoft.com/office/drawing/2014/main" id="{E7EA77F2-F7AC-6E68-5D7C-6BDDED93E3EA}"/>
                </a:ext>
              </a:extLst>
            </p:cNvPr>
            <p:cNvGrpSpPr/>
            <p:nvPr/>
          </p:nvGrpSpPr>
          <p:grpSpPr>
            <a:xfrm>
              <a:off x="13315676" y="19409747"/>
              <a:ext cx="7620000" cy="8238280"/>
              <a:chOff x="13371948" y="19698345"/>
              <a:chExt cx="7620000" cy="8238280"/>
            </a:xfrm>
          </p:grpSpPr>
          <p:pic>
            <p:nvPicPr>
              <p:cNvPr id="157" name="Picture 156" descr="Chart, line chart&#10;&#10;Description automatically generated">
                <a:extLst>
                  <a:ext uri="{FF2B5EF4-FFF2-40B4-BE49-F238E27FC236}">
                    <a16:creationId xmlns:a16="http://schemas.microsoft.com/office/drawing/2014/main" id="{3D02B174-620F-6776-B6C1-644BE629063D}"/>
                  </a:ext>
                </a:extLst>
              </p:cNvPr>
              <p:cNvPicPr>
                <a:picLocks noChangeAspect="1"/>
              </p:cNvPicPr>
              <p:nvPr/>
            </p:nvPicPr>
            <p:blipFill>
              <a:blip r:embed="rId5"/>
              <a:stretch>
                <a:fillRect/>
              </a:stretch>
            </p:blipFill>
            <p:spPr>
              <a:xfrm>
                <a:off x="13371948" y="19698345"/>
                <a:ext cx="7620000" cy="6337300"/>
              </a:xfrm>
              <a:prstGeom prst="rect">
                <a:avLst/>
              </a:prstGeom>
            </p:spPr>
          </p:pic>
          <p:pic>
            <p:nvPicPr>
              <p:cNvPr id="155" name="Picture 154" descr="Chart, line chart&#10;&#10;Description automatically generated">
                <a:extLst>
                  <a:ext uri="{FF2B5EF4-FFF2-40B4-BE49-F238E27FC236}">
                    <a16:creationId xmlns:a16="http://schemas.microsoft.com/office/drawing/2014/main" id="{96E24AA1-1C8D-F7FB-E2CF-2E02BBBC0894}"/>
                  </a:ext>
                </a:extLst>
              </p:cNvPr>
              <p:cNvPicPr>
                <a:picLocks noChangeAspect="1"/>
              </p:cNvPicPr>
              <p:nvPr/>
            </p:nvPicPr>
            <p:blipFill>
              <a:blip r:embed="rId6"/>
              <a:stretch>
                <a:fillRect/>
              </a:stretch>
            </p:blipFill>
            <p:spPr>
              <a:xfrm>
                <a:off x="13371948" y="25409325"/>
                <a:ext cx="7620000" cy="2527300"/>
              </a:xfrm>
              <a:prstGeom prst="rect">
                <a:avLst/>
              </a:prstGeom>
            </p:spPr>
          </p:pic>
        </p:grpSp>
        <p:sp>
          <p:nvSpPr>
            <p:cNvPr id="164" name="TextBox 163">
              <a:extLst>
                <a:ext uri="{FF2B5EF4-FFF2-40B4-BE49-F238E27FC236}">
                  <a16:creationId xmlns:a16="http://schemas.microsoft.com/office/drawing/2014/main" id="{5AAAF2ED-8D50-9ED3-71C0-5E8F627BE6D3}"/>
                </a:ext>
              </a:extLst>
            </p:cNvPr>
            <p:cNvSpPr txBox="1"/>
            <p:nvPr/>
          </p:nvSpPr>
          <p:spPr>
            <a:xfrm>
              <a:off x="14016975" y="27747812"/>
              <a:ext cx="6476316" cy="1200329"/>
            </a:xfrm>
            <a:prstGeom prst="rect">
              <a:avLst/>
            </a:prstGeom>
            <a:noFill/>
          </p:spPr>
          <p:txBody>
            <a:bodyPr wrap="square" rtlCol="0">
              <a:spAutoFit/>
            </a:bodyPr>
            <a:lstStyle/>
            <a:p>
              <a:pPr algn="just"/>
              <a:r>
                <a:rPr lang="en-GB" b="1" dirty="0">
                  <a:latin typeface="Times New Roman" panose="02020603050405020304" pitchFamily="18" charset="0"/>
                  <a:cs typeface="Times New Roman" panose="02020603050405020304" pitchFamily="18" charset="0"/>
                </a:rPr>
                <a:t>Figure 4. </a:t>
              </a:r>
              <a:r>
                <a:rPr lang="en-GB" dirty="0">
                  <a:latin typeface="Times New Roman" panose="02020603050405020304" pitchFamily="18" charset="0"/>
                  <a:cs typeface="Times New Roman" panose="02020603050405020304" pitchFamily="18" charset="0"/>
                </a:rPr>
                <a:t>Aspect of the frequency shift applied to the sound which were chosen by the participant for the different FTPM configurations (4A) and representation of the difference between the FTPM and the frequency shift (4B)</a:t>
              </a:r>
            </a:p>
          </p:txBody>
        </p:sp>
      </p:grpSp>
      <p:pic>
        <p:nvPicPr>
          <p:cNvPr id="8" name="Picture 7">
            <a:extLst>
              <a:ext uri="{FF2B5EF4-FFF2-40B4-BE49-F238E27FC236}">
                <a16:creationId xmlns:a16="http://schemas.microsoft.com/office/drawing/2014/main" id="{0F4EC7FF-3863-81C6-41D3-F1DF9DDD63CC}"/>
              </a:ext>
            </a:extLst>
          </p:cNvPr>
          <p:cNvPicPr>
            <a:picLocks noChangeAspect="1"/>
          </p:cNvPicPr>
          <p:nvPr/>
        </p:nvPicPr>
        <p:blipFill rotWithShape="1">
          <a:blip r:embed="rId7"/>
          <a:srcRect l="9537" t="35477" r="10886" b="35858"/>
          <a:stretch/>
        </p:blipFill>
        <p:spPr>
          <a:xfrm>
            <a:off x="384087" y="262694"/>
            <a:ext cx="6184962" cy="1485283"/>
          </a:xfrm>
          <a:prstGeom prst="rect">
            <a:avLst/>
          </a:prstGeom>
        </p:spPr>
      </p:pic>
      <p:sp>
        <p:nvSpPr>
          <p:cNvPr id="13" name="Rectangle 12">
            <a:extLst>
              <a:ext uri="{FF2B5EF4-FFF2-40B4-BE49-F238E27FC236}">
                <a16:creationId xmlns:a16="http://schemas.microsoft.com/office/drawing/2014/main" id="{8D87652E-B77C-4F23-1B07-45BE99E0BD56}"/>
              </a:ext>
            </a:extLst>
          </p:cNvPr>
          <p:cNvSpPr/>
          <p:nvPr/>
        </p:nvSpPr>
        <p:spPr>
          <a:xfrm>
            <a:off x="-1" y="2112163"/>
            <a:ext cx="21383625" cy="2039816"/>
          </a:xfrm>
          <a:prstGeom prst="rect">
            <a:avLst/>
          </a:prstGeom>
          <a:solidFill>
            <a:srgbClr val="003E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highlight>
                <a:srgbClr val="000BCF"/>
              </a:highlight>
            </a:endParaRPr>
          </a:p>
        </p:txBody>
      </p:sp>
      <p:sp>
        <p:nvSpPr>
          <p:cNvPr id="16" name="TextBox 15">
            <a:extLst>
              <a:ext uri="{FF2B5EF4-FFF2-40B4-BE49-F238E27FC236}">
                <a16:creationId xmlns:a16="http://schemas.microsoft.com/office/drawing/2014/main" id="{81FA23FE-78EE-E104-00CC-6D51BE703797}"/>
              </a:ext>
            </a:extLst>
          </p:cNvPr>
          <p:cNvSpPr txBox="1"/>
          <p:nvPr/>
        </p:nvSpPr>
        <p:spPr>
          <a:xfrm>
            <a:off x="-76201" y="2126725"/>
            <a:ext cx="21536023" cy="3477875"/>
          </a:xfrm>
          <a:prstGeom prst="rect">
            <a:avLst/>
          </a:prstGeom>
          <a:solidFill>
            <a:srgbClr val="003E74"/>
          </a:solidFill>
        </p:spPr>
        <p:txBody>
          <a:bodyPr wrap="square" rtlCol="0">
            <a:spAutoFit/>
          </a:bodyPr>
          <a:lstStyle/>
          <a:p>
            <a:pPr algn="ctr" fontAlgn="base"/>
            <a:r>
              <a:rPr lang="en-FR" sz="6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Characterization of frequency-to-place mismatch using frequency shifted music: a vocoder study</a:t>
            </a:r>
          </a:p>
          <a:p>
            <a:pPr algn="ctr" fontAlgn="base"/>
            <a:r>
              <a:rPr lang="en-FR" sz="2000" b="1" dirty="0">
                <a:solidFill>
                  <a:schemeClr val="bg1"/>
                </a:solidFill>
                <a:latin typeface="Times New Roman" panose="02020603050405020304" pitchFamily="18" charset="0"/>
                <a:cs typeface="Times New Roman" panose="02020603050405020304" pitchFamily="18" charset="0"/>
              </a:rPr>
              <a:t> </a:t>
            </a:r>
          </a:p>
          <a:p>
            <a:pPr algn="ctr" fontAlgn="base"/>
            <a:r>
              <a:rPr lang="en-GB" sz="2000" b="1" dirty="0">
                <a:solidFill>
                  <a:schemeClr val="bg1"/>
                </a:solidFill>
                <a:latin typeface="Times New Roman" panose="02020603050405020304" pitchFamily="18" charset="0"/>
                <a:cs typeface="Times New Roman" panose="02020603050405020304" pitchFamily="18" charset="0"/>
              </a:rPr>
              <a:t>Louis Villejoubert</a:t>
            </a:r>
            <a:r>
              <a:rPr lang="en-GB" sz="2000" b="1" baseline="30000" dirty="0">
                <a:solidFill>
                  <a:schemeClr val="bg1"/>
                </a:solidFill>
                <a:latin typeface="Times New Roman" panose="02020603050405020304" pitchFamily="18" charset="0"/>
                <a:cs typeface="Times New Roman" panose="02020603050405020304" pitchFamily="18" charset="0"/>
              </a:rPr>
              <a:t>1</a:t>
            </a:r>
            <a:r>
              <a:rPr lang="en-GB" sz="2000" b="1" dirty="0">
                <a:solidFill>
                  <a:schemeClr val="bg1"/>
                </a:solidFill>
                <a:latin typeface="Times New Roman" panose="02020603050405020304" pitchFamily="18" charset="0"/>
                <a:cs typeface="Times New Roman" panose="02020603050405020304" pitchFamily="18" charset="0"/>
              </a:rPr>
              <a:t>, Ben Williges</a:t>
            </a:r>
            <a:r>
              <a:rPr lang="en-GB" sz="2000" b="1" baseline="30000" dirty="0">
                <a:solidFill>
                  <a:schemeClr val="bg1"/>
                </a:solidFill>
                <a:latin typeface="Times New Roman" panose="02020603050405020304" pitchFamily="18" charset="0"/>
                <a:cs typeface="Times New Roman" panose="02020603050405020304" pitchFamily="18" charset="0"/>
              </a:rPr>
              <a:t>1</a:t>
            </a:r>
            <a:r>
              <a:rPr lang="en-GB" sz="2000" b="1" dirty="0">
                <a:solidFill>
                  <a:schemeClr val="bg1"/>
                </a:solidFill>
                <a:latin typeface="Times New Roman" panose="02020603050405020304" pitchFamily="18" charset="0"/>
                <a:cs typeface="Times New Roman" panose="02020603050405020304" pitchFamily="18" charset="0"/>
              </a:rPr>
              <a:t>, Nicholas Haywood</a:t>
            </a:r>
            <a:r>
              <a:rPr lang="en-GB" sz="2000" b="1" baseline="30000" dirty="0">
                <a:solidFill>
                  <a:schemeClr val="bg1"/>
                </a:solidFill>
                <a:latin typeface="Times New Roman" panose="02020603050405020304" pitchFamily="18" charset="0"/>
                <a:cs typeface="Times New Roman" panose="02020603050405020304" pitchFamily="18" charset="0"/>
              </a:rPr>
              <a:t>1</a:t>
            </a:r>
            <a:r>
              <a:rPr lang="en-GB" sz="2000" b="1" dirty="0">
                <a:solidFill>
                  <a:schemeClr val="bg1"/>
                </a:solidFill>
                <a:latin typeface="Times New Roman" panose="02020603050405020304" pitchFamily="18" charset="0"/>
                <a:cs typeface="Times New Roman" panose="02020603050405020304" pitchFamily="18" charset="0"/>
              </a:rPr>
              <a:t>, Lorenzo Picinali</a:t>
            </a:r>
            <a:r>
              <a:rPr lang="en-GB" sz="2000" b="1" baseline="30000" dirty="0">
                <a:solidFill>
                  <a:schemeClr val="bg1"/>
                </a:solidFill>
                <a:latin typeface="Times New Roman" panose="02020603050405020304" pitchFamily="18" charset="0"/>
                <a:cs typeface="Times New Roman" panose="02020603050405020304" pitchFamily="18" charset="0"/>
              </a:rPr>
              <a:t>2</a:t>
            </a:r>
            <a:r>
              <a:rPr lang="en-GB" sz="2000" b="1" dirty="0">
                <a:solidFill>
                  <a:schemeClr val="bg1"/>
                </a:solidFill>
                <a:latin typeface="Times New Roman" panose="02020603050405020304" pitchFamily="18" charset="0"/>
                <a:cs typeface="Times New Roman" panose="02020603050405020304" pitchFamily="18" charset="0"/>
              </a:rPr>
              <a:t>, Kathleen Faulkner Scalzo</a:t>
            </a:r>
            <a:r>
              <a:rPr lang="en-GB" sz="2000" b="1" baseline="30000" dirty="0">
                <a:solidFill>
                  <a:schemeClr val="bg1"/>
                </a:solidFill>
                <a:latin typeface="Times New Roman" panose="02020603050405020304" pitchFamily="18" charset="0"/>
                <a:cs typeface="Times New Roman" panose="02020603050405020304" pitchFamily="18" charset="0"/>
              </a:rPr>
              <a:t>3</a:t>
            </a:r>
            <a:r>
              <a:rPr lang="en-GB" sz="2000" b="1" dirty="0">
                <a:solidFill>
                  <a:schemeClr val="bg1"/>
                </a:solidFill>
                <a:latin typeface="Times New Roman" panose="02020603050405020304" pitchFamily="18" charset="0"/>
                <a:cs typeface="Times New Roman" panose="02020603050405020304" pitchFamily="18" charset="0"/>
              </a:rPr>
              <a:t>,</a:t>
            </a:r>
            <a:r>
              <a:rPr lang="en-GB" sz="2000" b="1" baseline="30000" dirty="0">
                <a:solidFill>
                  <a:schemeClr val="bg1"/>
                </a:solidFill>
                <a:latin typeface="Times New Roman" panose="02020603050405020304" pitchFamily="18" charset="0"/>
                <a:cs typeface="Times New Roman" panose="02020603050405020304" pitchFamily="18" charset="0"/>
              </a:rPr>
              <a:t> </a:t>
            </a:r>
            <a:r>
              <a:rPr lang="en-GB" sz="2000" b="1" dirty="0">
                <a:solidFill>
                  <a:schemeClr val="bg1"/>
                </a:solidFill>
                <a:latin typeface="Times New Roman" panose="02020603050405020304" pitchFamily="18" charset="0"/>
                <a:cs typeface="Times New Roman" panose="02020603050405020304" pitchFamily="18" charset="0"/>
              </a:rPr>
              <a:t>Deborah Vickers</a:t>
            </a:r>
            <a:r>
              <a:rPr lang="en-GB" sz="2000" b="1" baseline="30000" dirty="0">
                <a:solidFill>
                  <a:schemeClr val="bg1"/>
                </a:solidFill>
                <a:latin typeface="Times New Roman" panose="02020603050405020304" pitchFamily="18" charset="0"/>
                <a:cs typeface="Times New Roman" panose="02020603050405020304" pitchFamily="18" charset="0"/>
              </a:rPr>
              <a:t>1</a:t>
            </a:r>
            <a:endParaRPr lang="en-GB" sz="2000" baseline="30000" dirty="0">
              <a:solidFill>
                <a:schemeClr val="bg1"/>
              </a:solidFill>
              <a:latin typeface="Times New Roman" panose="02020603050405020304" pitchFamily="18" charset="0"/>
              <a:cs typeface="Times New Roman" panose="02020603050405020304" pitchFamily="18" charset="0"/>
            </a:endParaRPr>
          </a:p>
          <a:p>
            <a:pPr algn="ctr" fontAlgn="base"/>
            <a:r>
              <a:rPr lang="en-GB" sz="2000" dirty="0">
                <a:solidFill>
                  <a:schemeClr val="bg1"/>
                </a:solidFill>
                <a:latin typeface="Times New Roman" panose="02020603050405020304" pitchFamily="18" charset="0"/>
                <a:cs typeface="Times New Roman" panose="02020603050405020304" pitchFamily="18" charset="0"/>
              </a:rPr>
              <a:t> </a:t>
            </a:r>
            <a:r>
              <a:rPr lang="en-GB" sz="2000" baseline="30000" dirty="0">
                <a:solidFill>
                  <a:schemeClr val="bg1"/>
                </a:solidFill>
                <a:latin typeface="Times New Roman" panose="02020603050405020304" pitchFamily="18" charset="0"/>
                <a:cs typeface="Times New Roman" panose="02020603050405020304" pitchFamily="18" charset="0"/>
              </a:rPr>
              <a:t>1</a:t>
            </a:r>
            <a:r>
              <a:rPr lang="en-GB" sz="2000" dirty="0">
                <a:solidFill>
                  <a:schemeClr val="bg1"/>
                </a:solidFill>
                <a:latin typeface="Times New Roman" panose="02020603050405020304" pitchFamily="18" charset="0"/>
                <a:cs typeface="Times New Roman" panose="02020603050405020304" pitchFamily="18" charset="0"/>
              </a:rPr>
              <a:t> Department of Clinical Neurosciences, University of Cambridge, UK, </a:t>
            </a:r>
            <a:r>
              <a:rPr lang="en-GB" sz="2000" baseline="30000" dirty="0">
                <a:solidFill>
                  <a:schemeClr val="bg1"/>
                </a:solidFill>
                <a:latin typeface="Times New Roman" panose="02020603050405020304" pitchFamily="18" charset="0"/>
                <a:cs typeface="Times New Roman" panose="02020603050405020304" pitchFamily="18" charset="0"/>
              </a:rPr>
              <a:t>2</a:t>
            </a:r>
            <a:r>
              <a:rPr lang="en-GB" sz="2000" dirty="0">
                <a:solidFill>
                  <a:schemeClr val="bg1"/>
                </a:solidFill>
                <a:latin typeface="Times New Roman" panose="02020603050405020304" pitchFamily="18" charset="0"/>
                <a:cs typeface="Times New Roman" panose="02020603050405020304" pitchFamily="18" charset="0"/>
              </a:rPr>
              <a:t> Dyson School of Design Engineering, Imperial College London, London, UK, </a:t>
            </a:r>
            <a:r>
              <a:rPr lang="en-GB" sz="2000" baseline="30000" dirty="0">
                <a:solidFill>
                  <a:schemeClr val="bg1"/>
                </a:solidFill>
                <a:latin typeface="Times New Roman" panose="02020603050405020304" pitchFamily="18" charset="0"/>
                <a:cs typeface="Times New Roman" panose="02020603050405020304" pitchFamily="18" charset="0"/>
              </a:rPr>
              <a:t>3 </a:t>
            </a:r>
            <a:r>
              <a:rPr lang="en-GB" sz="2000" dirty="0">
                <a:solidFill>
                  <a:schemeClr val="bg1"/>
                </a:solidFill>
                <a:latin typeface="Times New Roman" panose="02020603050405020304" pitchFamily="18" charset="0"/>
                <a:cs typeface="Times New Roman" panose="02020603050405020304" pitchFamily="18" charset="0"/>
              </a:rPr>
              <a:t>Oticon, </a:t>
            </a:r>
            <a:r>
              <a:rPr lang="en-GB" sz="2000" dirty="0" err="1">
                <a:solidFill>
                  <a:schemeClr val="bg1"/>
                </a:solidFill>
                <a:latin typeface="Times New Roman" panose="02020603050405020304" pitchFamily="18" charset="0"/>
                <a:cs typeface="Times New Roman" panose="02020603050405020304" pitchFamily="18" charset="0"/>
              </a:rPr>
              <a:t>Ballerup</a:t>
            </a:r>
            <a:r>
              <a:rPr lang="en-GB" sz="2000" dirty="0">
                <a:solidFill>
                  <a:schemeClr val="bg1"/>
                </a:solidFill>
                <a:latin typeface="Times New Roman" panose="02020603050405020304" pitchFamily="18" charset="0"/>
                <a:cs typeface="Times New Roman" panose="02020603050405020304" pitchFamily="18" charset="0"/>
              </a:rPr>
              <a:t>, Denmark</a:t>
            </a:r>
          </a:p>
          <a:p>
            <a:pPr algn="ctr" fontAlgn="base"/>
            <a:endParaRPr lang="en-GB" sz="2000" dirty="0">
              <a:solidFill>
                <a:schemeClr val="bg1"/>
              </a:solidFill>
              <a:latin typeface="Times New Roman" panose="02020603050405020304" pitchFamily="18" charset="0"/>
              <a:cs typeface="Times New Roman" panose="02020603050405020304" pitchFamily="18" charset="0"/>
            </a:endParaRPr>
          </a:p>
          <a:p>
            <a:pPr algn="ctr" fontAlgn="base"/>
            <a:r>
              <a:rPr lang="en-GB" sz="2000" b="1" dirty="0">
                <a:solidFill>
                  <a:schemeClr val="bg1"/>
                </a:solidFill>
                <a:latin typeface="Times New Roman" panose="02020603050405020304" pitchFamily="18" charset="0"/>
                <a:cs typeface="Times New Roman" panose="02020603050405020304" pitchFamily="18" charset="0"/>
              </a:rPr>
              <a:t>Contact:</a:t>
            </a:r>
            <a:r>
              <a:rPr lang="en-GB" sz="2000" dirty="0">
                <a:solidFill>
                  <a:schemeClr val="bg1"/>
                </a:solidFill>
                <a:latin typeface="Times New Roman" panose="02020603050405020304" pitchFamily="18" charset="0"/>
                <a:cs typeface="Times New Roman" panose="02020603050405020304" pitchFamily="18" charset="0"/>
              </a:rPr>
              <a:t> lv362@cam.ac.uk</a:t>
            </a:r>
          </a:p>
        </p:txBody>
      </p:sp>
      <p:sp>
        <p:nvSpPr>
          <p:cNvPr id="2" name="TextBox 1">
            <a:extLst>
              <a:ext uri="{FF2B5EF4-FFF2-40B4-BE49-F238E27FC236}">
                <a16:creationId xmlns:a16="http://schemas.microsoft.com/office/drawing/2014/main" id="{0FA9E79D-0842-02CB-3441-069F3EC17D88}"/>
              </a:ext>
            </a:extLst>
          </p:cNvPr>
          <p:cNvSpPr txBox="1"/>
          <p:nvPr/>
        </p:nvSpPr>
        <p:spPr>
          <a:xfrm>
            <a:off x="579743" y="5029636"/>
            <a:ext cx="184731" cy="369332"/>
          </a:xfrm>
          <a:prstGeom prst="rect">
            <a:avLst/>
          </a:prstGeom>
          <a:noFill/>
        </p:spPr>
        <p:txBody>
          <a:bodyPr wrap="square" rtlCol="0">
            <a:spAutoFit/>
          </a:bodyPr>
          <a:lstStyle/>
          <a:p>
            <a:endParaRPr lang="en-GB" dirty="0"/>
          </a:p>
        </p:txBody>
      </p:sp>
      <p:sp>
        <p:nvSpPr>
          <p:cNvPr id="4" name="Rectangle 3">
            <a:extLst>
              <a:ext uri="{FF2B5EF4-FFF2-40B4-BE49-F238E27FC236}">
                <a16:creationId xmlns:a16="http://schemas.microsoft.com/office/drawing/2014/main" id="{A39E8D07-8731-5912-7951-2DA8B62587B3}"/>
              </a:ext>
            </a:extLst>
          </p:cNvPr>
          <p:cNvSpPr/>
          <p:nvPr/>
        </p:nvSpPr>
        <p:spPr>
          <a:xfrm>
            <a:off x="-76202" y="28678537"/>
            <a:ext cx="21536023" cy="1772735"/>
          </a:xfrm>
          <a:prstGeom prst="rect">
            <a:avLst/>
          </a:prstGeom>
          <a:solidFill>
            <a:srgbClr val="003E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b="1" dirty="0">
                <a:solidFill>
                  <a:schemeClr val="bg1"/>
                </a:solidFill>
                <a:latin typeface="Times New Roman" panose="02020603050405020304" pitchFamily="18" charset="0"/>
                <a:cs typeface="Times New Roman" panose="02020603050405020304" pitchFamily="18" charset="0"/>
              </a:rPr>
              <a:t>References:</a:t>
            </a:r>
          </a:p>
          <a:p>
            <a:r>
              <a:rPr lang="en-GB" sz="1400" dirty="0"/>
              <a:t>[1]	D. </a:t>
            </a:r>
            <a:r>
              <a:rPr lang="en-GB" sz="1400" dirty="0" err="1"/>
              <a:t>Baskent</a:t>
            </a:r>
            <a:r>
              <a:rPr lang="en-GB" sz="1400" dirty="0"/>
              <a:t> and R. V. Shannon, “Speech recognition under conditions of frequency-place compression and expansion,” </a:t>
            </a:r>
            <a:r>
              <a:rPr lang="en-GB" sz="1400" i="1" dirty="0"/>
              <a:t>The Journal of the Acoustical Society of America</a:t>
            </a:r>
            <a:r>
              <a:rPr lang="en-GB" sz="1400" dirty="0"/>
              <a:t>, vol. 113, no. 4, pp. 2064–2076, Apr. 2003, </a:t>
            </a:r>
            <a:r>
              <a:rPr lang="en-GB" sz="1400" dirty="0" err="1"/>
              <a:t>doi</a:t>
            </a:r>
            <a:r>
              <a:rPr lang="en-GB" sz="1400" dirty="0"/>
              <a:t>: 10.1121/1.1558357.</a:t>
            </a:r>
            <a:endParaRPr lang="en-FR" sz="1400" dirty="0"/>
          </a:p>
          <a:p>
            <a:r>
              <a:rPr lang="en-GB" sz="1400" dirty="0"/>
              <a:t>[2]	V. </a:t>
            </a:r>
            <a:r>
              <a:rPr lang="en-GB" sz="1400" dirty="0" err="1"/>
              <a:t>Looi</a:t>
            </a:r>
            <a:r>
              <a:rPr lang="en-GB" sz="1400" dirty="0"/>
              <a:t>, H. McDermott, C. McKay, and L. Hickson, “Comparisons of Quality Ratings for Music by Cochlear Implant and Hearing Aid Users,” </a:t>
            </a:r>
            <a:r>
              <a:rPr lang="en-GB" sz="1400" i="1" dirty="0"/>
              <a:t>Ear and Hearing</a:t>
            </a:r>
            <a:r>
              <a:rPr lang="en-GB" sz="1400" dirty="0"/>
              <a:t>, vol. 28, no. 2, p. 59S, Apr. 2007, </a:t>
            </a:r>
            <a:r>
              <a:rPr lang="en-GB" sz="1400" dirty="0" err="1"/>
              <a:t>doi</a:t>
            </a:r>
            <a:r>
              <a:rPr lang="en-GB" sz="1400" dirty="0"/>
              <a:t>: 10.1097/AUD.0b013e31803150cb.</a:t>
            </a:r>
            <a:endParaRPr lang="en-FR" sz="1400" dirty="0"/>
          </a:p>
          <a:p>
            <a:r>
              <a:rPr lang="en-GB" sz="1400" dirty="0"/>
              <a:t>[3]	D. M. Landsberger, M. </a:t>
            </a:r>
            <a:r>
              <a:rPr lang="en-GB" sz="1400" dirty="0" err="1"/>
              <a:t>Svrakic</a:t>
            </a:r>
            <a:r>
              <a:rPr lang="en-GB" sz="1400" dirty="0"/>
              <a:t>, J. T. J. Roland, and M. Svirsky, “The Relationship Between Insertion Angles, Default Frequency Allocations, and Spiral Ganglion Place Pitch in Cochlear Implants,” </a:t>
            </a:r>
            <a:r>
              <a:rPr lang="en-GB" sz="1400" i="1" dirty="0"/>
              <a:t>Ear and Hearing</a:t>
            </a:r>
            <a:r>
              <a:rPr lang="en-GB" sz="1400" dirty="0"/>
              <a:t>, vol. 36, no. 5, p. e207, Oct. 2015, </a:t>
            </a:r>
            <a:r>
              <a:rPr lang="en-GB" sz="1400" dirty="0" err="1"/>
              <a:t>doi</a:t>
            </a:r>
            <a:r>
              <a:rPr lang="en-GB" sz="1400" dirty="0"/>
              <a:t>: 10.1097/AUD.0000000000000163.</a:t>
            </a:r>
            <a:endParaRPr lang="en-FR" sz="1400" dirty="0"/>
          </a:p>
          <a:p>
            <a:r>
              <a:rPr lang="en-GB" sz="1400" dirty="0"/>
              <a:t>[4]	B. </a:t>
            </a:r>
            <a:r>
              <a:rPr lang="en-GB" sz="1400" dirty="0" err="1"/>
              <a:t>Williges</a:t>
            </a:r>
            <a:r>
              <a:rPr lang="en-GB" sz="1400" dirty="0"/>
              <a:t> and T. </a:t>
            </a:r>
            <a:r>
              <a:rPr lang="en-GB" sz="1400" dirty="0" err="1"/>
              <a:t>Jürgens</a:t>
            </a:r>
            <a:r>
              <a:rPr lang="en-GB" sz="1400" dirty="0"/>
              <a:t>, “Pulsatile Cochlear Implant Vocoder v 1.0.1.” </a:t>
            </a:r>
            <a:r>
              <a:rPr lang="en-GB" sz="1400" dirty="0" err="1"/>
              <a:t>Zenodo</a:t>
            </a:r>
            <a:r>
              <a:rPr lang="en-GB" sz="1400" dirty="0"/>
              <a:t>, May 29, 2019. </a:t>
            </a:r>
            <a:r>
              <a:rPr lang="en-GB" sz="1400" dirty="0" err="1"/>
              <a:t>doi</a:t>
            </a:r>
            <a:r>
              <a:rPr lang="en-GB" sz="1400" dirty="0"/>
              <a:t>: 10.5281/zenodo.3234499.</a:t>
            </a:r>
            <a:endParaRPr lang="en-FR" sz="1400" dirty="0"/>
          </a:p>
          <a:p>
            <a:r>
              <a:rPr lang="en-GB" sz="1400" dirty="0"/>
              <a:t>[5]	R. </a:t>
            </a:r>
            <a:r>
              <a:rPr lang="en-GB" sz="1400" dirty="0" err="1"/>
              <a:t>Storn</a:t>
            </a:r>
            <a:r>
              <a:rPr lang="en-GB" sz="1400" dirty="0"/>
              <a:t> and K. Price, “Differential Evolution – A Simple and Efficient Heuristic for global Optimization over Continuous Spaces,” </a:t>
            </a:r>
            <a:r>
              <a:rPr lang="en-GB" sz="1400" i="1" dirty="0"/>
              <a:t>Journal of Global Optimization</a:t>
            </a:r>
            <a:r>
              <a:rPr lang="en-GB" sz="1400" dirty="0"/>
              <a:t>, vol. 11, no. 4, pp. 341–359, Dec. 1997, </a:t>
            </a:r>
            <a:r>
              <a:rPr lang="en-GB" sz="1400" dirty="0" err="1"/>
              <a:t>doi</a:t>
            </a:r>
            <a:r>
              <a:rPr lang="en-GB" sz="1400" dirty="0"/>
              <a:t>: 10.1023/A:1008202821328.</a:t>
            </a:r>
            <a:endParaRPr lang="en-FR" sz="1400" dirty="0"/>
          </a:p>
          <a:p>
            <a:r>
              <a:rPr lang="en-GB" sz="1400" dirty="0"/>
              <a:t>[6]	H. Takagi and D. </a:t>
            </a:r>
            <a:r>
              <a:rPr lang="en-GB" sz="1400" dirty="0" err="1"/>
              <a:t>Pallez</a:t>
            </a:r>
            <a:r>
              <a:rPr lang="en-GB" sz="1400" dirty="0"/>
              <a:t>, “Paired comparison-based Interactive Differential Evolution,” in </a:t>
            </a:r>
            <a:r>
              <a:rPr lang="en-GB" sz="1400" i="1" dirty="0"/>
              <a:t>2009 World Congress on Nature &amp; Biologically Inspired Computing (</a:t>
            </a:r>
            <a:r>
              <a:rPr lang="en-GB" sz="1400" i="1" dirty="0" err="1"/>
              <a:t>NaBIC</a:t>
            </a:r>
            <a:r>
              <a:rPr lang="en-GB" sz="1400" i="1" dirty="0"/>
              <a:t>)</a:t>
            </a:r>
            <a:r>
              <a:rPr lang="en-GB" sz="1400" dirty="0"/>
              <a:t>, Dec. 2009, pp. 475–480. </a:t>
            </a:r>
            <a:r>
              <a:rPr lang="en-GB" sz="1400" dirty="0" err="1"/>
              <a:t>doi</a:t>
            </a:r>
            <a:r>
              <a:rPr lang="en-GB" sz="1400" dirty="0"/>
              <a:t>: 10.1109/NABIC.2009.5393359.</a:t>
            </a:r>
          </a:p>
          <a:p>
            <a:endParaRPr lang="en-FR" sz="1400" dirty="0"/>
          </a:p>
        </p:txBody>
      </p:sp>
      <p:sp>
        <p:nvSpPr>
          <p:cNvPr id="61" name="TextBox 60">
            <a:extLst>
              <a:ext uri="{FF2B5EF4-FFF2-40B4-BE49-F238E27FC236}">
                <a16:creationId xmlns:a16="http://schemas.microsoft.com/office/drawing/2014/main" id="{14A1890B-5169-B5A3-EE5A-EEF0DDFE0792}"/>
              </a:ext>
            </a:extLst>
          </p:cNvPr>
          <p:cNvSpPr txBox="1"/>
          <p:nvPr/>
        </p:nvSpPr>
        <p:spPr>
          <a:xfrm>
            <a:off x="579743" y="11672826"/>
            <a:ext cx="12508056" cy="8971687"/>
          </a:xfrm>
          <a:prstGeom prst="rect">
            <a:avLst/>
          </a:prstGeom>
          <a:noFill/>
        </p:spPr>
        <p:txBody>
          <a:bodyPr wrap="square">
            <a:spAutoFit/>
          </a:bodyPr>
          <a:lstStyle/>
          <a:p>
            <a:pPr algn="just">
              <a:spcAft>
                <a:spcPts val="600"/>
              </a:spcAft>
            </a:pPr>
            <a:r>
              <a:rPr lang="en-GB" sz="2800" b="1" dirty="0">
                <a:solidFill>
                  <a:schemeClr val="bg1"/>
                </a:solidFill>
                <a:highlight>
                  <a:srgbClr val="003E74"/>
                </a:highlight>
                <a:latin typeface="Times New Roman" panose="02020603050405020304" pitchFamily="18" charset="0"/>
                <a:ea typeface="Times New Roman" panose="02020603050405020304" pitchFamily="18" charset="0"/>
                <a:cs typeface="Times New Roman" panose="02020603050405020304" pitchFamily="18" charset="0"/>
              </a:rPr>
              <a:t>Method </a:t>
            </a:r>
            <a:endParaRPr lang="en-GB"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GB"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Sound processing. </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first step is the frequency shift processing. Each sound used in this experiment was first divided into 64 channels. Then, a specific pitch shift value was applied to each channel. These pitch shift values were chosen according to realistic FTPM shapes extracted from Landsberger et al. (2015) [3] . Based on this publication, different linear pitch shifts were applied to the whole frequency spectrum and different non-linear pitch shifts were applied to the low and high frequencies. In a second step, the sounds were vocoded </a:t>
            </a:r>
            <a:r>
              <a:rPr lang="en-GB" sz="2200" dirty="0">
                <a:latin typeface="Times New Roman" panose="02020603050405020304" pitchFamily="18" charset="0"/>
                <a:cs typeface="Times New Roman" panose="02020603050405020304" pitchFamily="18" charset="0"/>
              </a:rPr>
              <a:t>[4] </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(Figure 1).</a:t>
            </a:r>
          </a:p>
          <a:p>
            <a:pPr algn="just">
              <a:spcAft>
                <a:spcPts val="600"/>
              </a:spcAft>
            </a:pPr>
            <a:r>
              <a:rPr lang="en-GB"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Conditions tested. </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different sounds were used in this experiment: the first one was extracted from an audiobook read by a woman. The second one was a classical instrumental music. Four representative profiles of FTPM, with different locations of poor ENI, were simulated [3]. </a:t>
            </a:r>
          </a:p>
          <a:p>
            <a:pPr algn="just">
              <a:spcAft>
                <a:spcPts val="600"/>
              </a:spcAft>
            </a:pPr>
            <a:r>
              <a:rPr lang="en-GB"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Testing procedure. </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order to evaluate the sound quality of the shifted and vocoded sounds, participants had to perform a paired comparison between two stimuli. Taking into account the fact that each condition was constituted by 2500 combinations of shift values, compare sample side-by-side was not possible. We decided to applied an Artificial Intelligence (AI) algorithm to optimize the testing procedure. </a:t>
            </a:r>
          </a:p>
          <a:p>
            <a:pPr algn="just">
              <a:spcAft>
                <a:spcPts val="600"/>
              </a:spcAft>
            </a:pPr>
            <a:r>
              <a:rPr lang="en-GB"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Interactive Differential Algorithm (IDE). </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Differential evolution (DE) is a recent AI proposed in 1995</a:t>
            </a:r>
            <a:r>
              <a:rPr lang="en-GB" sz="2200" dirty="0">
                <a:latin typeface="Times New Roman" panose="02020603050405020304" pitchFamily="18" charset="0"/>
                <a:cs typeface="Times New Roman" panose="02020603050405020304" pitchFamily="18" charset="0"/>
              </a:rPr>
              <a:t> [5]</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 adaption of IDE using paired comparison was proposed by </a:t>
            </a:r>
            <a:r>
              <a:rPr lang="en-GB" sz="22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Tagaki</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&amp; </a:t>
            </a:r>
            <a:r>
              <a:rPr lang="en-GB" sz="22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Pallez</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(2009) </a:t>
            </a:r>
            <a:r>
              <a:rPr lang="en-GB" sz="2200" dirty="0">
                <a:latin typeface="Times New Roman" panose="02020603050405020304" pitchFamily="18" charset="0"/>
                <a:cs typeface="Times New Roman" panose="02020603050405020304" pitchFamily="18" charset="0"/>
              </a:rPr>
              <a:t>[6]</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IDE starts with a population of </a:t>
            </a:r>
            <a:r>
              <a:rPr lang="en-GB" sz="22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Np</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solution candidates (here </a:t>
            </a:r>
            <a:r>
              <a:rPr lang="en-GB" sz="22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Np</a:t>
            </a: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5). Each solution candidate is composed by 3 random values from the parameters previously described. One “child” is then created for each parent, using mutation and crossover processes. Then, the parent and the child are compared (Figure 2). In a second round, named generation here, the chosen solution is used to generate a new child. This comparison is repeated 5 times per generation over 5 generations. In total, 25 paired comparison are performed per condition. At the end of the final generation, the 5 solutions chosen are averaged and are considered as the “best sound quality” configuration for this specific condition.  </a:t>
            </a:r>
          </a:p>
          <a:p>
            <a:pPr algn="just"/>
            <a:endPar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FR" dirty="0">
              <a:solidFill>
                <a:srgbClr val="000000"/>
              </a:solidFill>
              <a:latin typeface="Times New Roman" panose="02020603050405020304" pitchFamily="18" charset="0"/>
              <a:ea typeface="Times New Roman" panose="02020603050405020304" pitchFamily="18" charset="0"/>
              <a:cs typeface="Calibri" panose="020F0502020204030204" pitchFamily="34" charset="0"/>
            </a:endParaRPr>
          </a:p>
        </p:txBody>
      </p:sp>
      <p:sp>
        <p:nvSpPr>
          <p:cNvPr id="99" name="TextBox 98">
            <a:extLst>
              <a:ext uri="{FF2B5EF4-FFF2-40B4-BE49-F238E27FC236}">
                <a16:creationId xmlns:a16="http://schemas.microsoft.com/office/drawing/2014/main" id="{2B95C029-45AA-38F7-6019-AE96D946BC4B}"/>
              </a:ext>
            </a:extLst>
          </p:cNvPr>
          <p:cNvSpPr txBox="1"/>
          <p:nvPr/>
        </p:nvSpPr>
        <p:spPr>
          <a:xfrm>
            <a:off x="598139" y="20322192"/>
            <a:ext cx="5467396" cy="8925520"/>
          </a:xfrm>
          <a:prstGeom prst="rect">
            <a:avLst/>
          </a:prstGeom>
          <a:noFill/>
        </p:spPr>
        <p:txBody>
          <a:bodyPr wrap="square">
            <a:spAutoFit/>
          </a:bodyPr>
          <a:lstStyle/>
          <a:p>
            <a:pPr algn="just"/>
            <a:r>
              <a:rPr lang="en-GB" sz="2800" b="1" dirty="0">
                <a:solidFill>
                  <a:schemeClr val="bg1"/>
                </a:solidFill>
                <a:highlight>
                  <a:srgbClr val="003E74"/>
                </a:highlight>
                <a:latin typeface="Times New Roman" panose="02020603050405020304" pitchFamily="18" charset="0"/>
                <a:ea typeface="Times New Roman" panose="02020603050405020304" pitchFamily="18" charset="0"/>
                <a:cs typeface="Times New Roman" panose="02020603050405020304" pitchFamily="18" charset="0"/>
              </a:rPr>
              <a:t>Results</a:t>
            </a:r>
            <a:endParaRPr lang="en-GB" sz="2200" b="1" dirty="0">
              <a:solidFill>
                <a:schemeClr val="bg1"/>
              </a:solidFill>
              <a:highlight>
                <a:srgbClr val="003E74"/>
              </a:highligh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GB" sz="2200" dirty="0">
                <a:latin typeface="Times New Roman" panose="02020603050405020304" pitchFamily="18" charset="0"/>
                <a:ea typeface="Times New Roman" panose="02020603050405020304" pitchFamily="18" charset="0"/>
                <a:cs typeface="Times New Roman" panose="02020603050405020304" pitchFamily="18" charset="0"/>
              </a:rPr>
              <a:t>For now, we have only the data from one participant. The results are represented in the figures 3 and 4. </a:t>
            </a:r>
          </a:p>
          <a:p>
            <a:pPr algn="just"/>
            <a:endParaRPr lang="en-GB" sz="22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GB" sz="2200" dirty="0">
                <a:latin typeface="Times New Roman" panose="02020603050405020304" pitchFamily="18" charset="0"/>
                <a:ea typeface="Times New Roman" panose="02020603050405020304" pitchFamily="18" charset="0"/>
                <a:cs typeface="Times New Roman" panose="02020603050405020304" pitchFamily="18" charset="0"/>
              </a:rPr>
              <a:t>We can see different trends with this first participant: </a:t>
            </a:r>
          </a:p>
          <a:p>
            <a:pPr algn="just"/>
            <a:endParaRPr lang="en-GB" sz="2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200" dirty="0">
                <a:latin typeface="Times New Roman" panose="02020603050405020304" pitchFamily="18" charset="0"/>
                <a:ea typeface="Times New Roman" panose="02020603050405020304" pitchFamily="18" charset="0"/>
                <a:cs typeface="Times New Roman" panose="02020603050405020304" pitchFamily="18" charset="0"/>
              </a:rPr>
              <a:t>Firstly, for each condition the best sound quality configuration seems to be obtained with a low frequency shift. </a:t>
            </a:r>
          </a:p>
          <a:p>
            <a:pPr marL="342900" indent="-342900" algn="just">
              <a:buFont typeface="Arial" panose="020B0604020202020204" pitchFamily="34" charset="0"/>
              <a:buChar char="•"/>
            </a:pP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Secondly,  the sound material seems to influence the degree of shifting for the best configuration (Figure 3A).</a:t>
            </a:r>
          </a:p>
          <a:p>
            <a:pPr marL="342900" indent="-342900" algn="just">
              <a:buFont typeface="Arial" panose="020B0604020202020204" pitchFamily="34" charset="0"/>
              <a:buChar char="•"/>
            </a:pP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Thirdly, the frequency ranges where the current spread is “important” show less frequency shift (Figure 3B).</a:t>
            </a:r>
          </a:p>
          <a:p>
            <a:pPr marL="342900" indent="-342900" algn="just">
              <a:buFont typeface="Arial" panose="020B0604020202020204" pitchFamily="34" charset="0"/>
              <a:buChar char="•"/>
            </a:pPr>
            <a:r>
              <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Finally, the degree of FTPM in the low frequencies seems to influence the frequency shift in the same frequency range (Figure 4A). However, we cannot see any clear relationship between the values (Figure 4B).</a:t>
            </a:r>
          </a:p>
          <a:p>
            <a:pPr algn="just"/>
            <a:endPar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GB"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FR" dirty="0">
              <a:solidFill>
                <a:srgbClr val="000000"/>
              </a:solidFill>
              <a:latin typeface="Times New Roman" panose="02020603050405020304" pitchFamily="18" charset="0"/>
              <a:ea typeface="Times New Roman" panose="02020603050405020304" pitchFamily="18" charset="0"/>
              <a:cs typeface="Calibri" panose="020F0502020204030204" pitchFamily="34" charset="0"/>
            </a:endParaRPr>
          </a:p>
        </p:txBody>
      </p:sp>
      <p:grpSp>
        <p:nvGrpSpPr>
          <p:cNvPr id="128" name="Group 127">
            <a:extLst>
              <a:ext uri="{FF2B5EF4-FFF2-40B4-BE49-F238E27FC236}">
                <a16:creationId xmlns:a16="http://schemas.microsoft.com/office/drawing/2014/main" id="{96D7719A-F17D-0E09-FEEF-C4EED0893E7A}"/>
              </a:ext>
            </a:extLst>
          </p:cNvPr>
          <p:cNvGrpSpPr/>
          <p:nvPr/>
        </p:nvGrpSpPr>
        <p:grpSpPr>
          <a:xfrm>
            <a:off x="13843820" y="15592090"/>
            <a:ext cx="6960062" cy="2836526"/>
            <a:chOff x="13822301" y="16928208"/>
            <a:chExt cx="6960062" cy="2836526"/>
          </a:xfrm>
        </p:grpSpPr>
        <p:grpSp>
          <p:nvGrpSpPr>
            <p:cNvPr id="31" name="Group 30">
              <a:extLst>
                <a:ext uri="{FF2B5EF4-FFF2-40B4-BE49-F238E27FC236}">
                  <a16:creationId xmlns:a16="http://schemas.microsoft.com/office/drawing/2014/main" id="{6A431698-1CE3-409F-7FDB-34E3172328F1}"/>
                </a:ext>
              </a:extLst>
            </p:cNvPr>
            <p:cNvGrpSpPr/>
            <p:nvPr/>
          </p:nvGrpSpPr>
          <p:grpSpPr>
            <a:xfrm>
              <a:off x="13822301" y="16928208"/>
              <a:ext cx="6708991" cy="2308324"/>
              <a:chOff x="1874907" y="1172400"/>
              <a:chExt cx="6708991" cy="2308324"/>
            </a:xfrm>
          </p:grpSpPr>
          <p:sp>
            <p:nvSpPr>
              <p:cNvPr id="32" name="TextBox 31">
                <a:extLst>
                  <a:ext uri="{FF2B5EF4-FFF2-40B4-BE49-F238E27FC236}">
                    <a16:creationId xmlns:a16="http://schemas.microsoft.com/office/drawing/2014/main" id="{37C6E09D-BEE3-1DF8-17BD-EECD499B2B1C}"/>
                  </a:ext>
                </a:extLst>
              </p:cNvPr>
              <p:cNvSpPr txBox="1"/>
              <p:nvPr/>
            </p:nvSpPr>
            <p:spPr>
              <a:xfrm>
                <a:off x="6096000" y="1172400"/>
                <a:ext cx="2487898" cy="2308324"/>
              </a:xfrm>
              <a:prstGeom prst="rect">
                <a:avLst/>
              </a:prstGeom>
              <a:noFill/>
              <a:ln w="28575">
                <a:solidFill>
                  <a:schemeClr val="tx1"/>
                </a:solidFill>
              </a:ln>
            </p:spPr>
            <p:txBody>
              <a:bodyPr wrap="square" rtlCol="0">
                <a:spAutoFit/>
              </a:bodyPr>
              <a:lstStyle/>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p:txBody>
          </p:sp>
          <p:pic>
            <p:nvPicPr>
              <p:cNvPr id="33" name="Picture 6" descr="Icône De L'équipe Clip Art Libres De Droits , Svg , Vecteurs Et  Illustration. Image 52129091.">
                <a:extLst>
                  <a:ext uri="{FF2B5EF4-FFF2-40B4-BE49-F238E27FC236}">
                    <a16:creationId xmlns:a16="http://schemas.microsoft.com/office/drawing/2014/main" id="{7815EBC8-92FE-8A2A-E64F-166DC3F701D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0423" t="16902" r="20495" b="16901"/>
              <a:stretch/>
            </p:blipFill>
            <p:spPr bwMode="auto">
              <a:xfrm>
                <a:off x="6801428" y="1298866"/>
                <a:ext cx="1065498" cy="1193800"/>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07D5EED6-2D5E-DF87-5C41-40D68957A535}"/>
                  </a:ext>
                </a:extLst>
              </p:cNvPr>
              <p:cNvSpPr txBox="1"/>
              <p:nvPr/>
            </p:nvSpPr>
            <p:spPr>
              <a:xfrm>
                <a:off x="1874907" y="2782669"/>
                <a:ext cx="2487898" cy="646331"/>
              </a:xfrm>
              <a:prstGeom prst="rect">
                <a:avLst/>
              </a:prstGeom>
              <a:noFill/>
            </p:spPr>
            <p:txBody>
              <a:bodyPr wrap="square" rtlCol="0">
                <a:spAutoFit/>
              </a:bodyPr>
              <a:lstStyle/>
              <a:p>
                <a:pPr algn="ctr"/>
                <a:r>
                  <a:rPr lang="en-GB" b="1" dirty="0">
                    <a:latin typeface="Times New Roman" panose="02020603050405020304" pitchFamily="18" charset="0"/>
                    <a:cs typeface="Times New Roman" panose="02020603050405020304" pitchFamily="18" charset="0"/>
                  </a:rPr>
                  <a:t>Calculation of Differential Evolution </a:t>
                </a:r>
              </a:p>
            </p:txBody>
          </p:sp>
          <p:pic>
            <p:nvPicPr>
              <p:cNvPr id="35" name="Picture 2" descr="How to draw a Computer Easy Full Video Tutorial | Computer drawing, Easy  drawings, Nature drawing for kids">
                <a:extLst>
                  <a:ext uri="{FF2B5EF4-FFF2-40B4-BE49-F238E27FC236}">
                    <a16:creationId xmlns:a16="http://schemas.microsoft.com/office/drawing/2014/main" id="{E1684D8F-1930-9FD3-25DE-09339AF2F8D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96" t="9662" r="17527" b="14251"/>
              <a:stretch/>
            </p:blipFill>
            <p:spPr bwMode="auto">
              <a:xfrm>
                <a:off x="2204490" y="1392703"/>
                <a:ext cx="1941054" cy="135572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6006C28A-B9E0-B003-5DA1-F10AF00A7EC9}"/>
                  </a:ext>
                </a:extLst>
              </p:cNvPr>
              <p:cNvSpPr txBox="1"/>
              <p:nvPr/>
            </p:nvSpPr>
            <p:spPr>
              <a:xfrm>
                <a:off x="1874907" y="1172400"/>
                <a:ext cx="2487898" cy="2308324"/>
              </a:xfrm>
              <a:prstGeom prst="rect">
                <a:avLst/>
              </a:prstGeom>
              <a:noFill/>
              <a:ln w="28575">
                <a:solidFill>
                  <a:schemeClr val="tx1"/>
                </a:solidFill>
              </a:ln>
            </p:spPr>
            <p:txBody>
              <a:bodyPr wrap="square" rtlCol="0">
                <a:spAutoFit/>
              </a:bodyPr>
              <a:lstStyle/>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a:p>
                <a:pPr algn="ctr"/>
                <a:endParaRPr lang="en-GB" b="1" dirty="0">
                  <a:latin typeface="Times New Roman" panose="02020603050405020304" pitchFamily="18"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BC79DAA1-384C-8544-4D4F-7665E2D68AB0}"/>
                  </a:ext>
                </a:extLst>
              </p:cNvPr>
              <p:cNvCxnSpPr>
                <a:cxnSpLocks/>
              </p:cNvCxnSpPr>
              <p:nvPr/>
            </p:nvCxnSpPr>
            <p:spPr>
              <a:xfrm>
                <a:off x="4362805" y="2147926"/>
                <a:ext cx="1565615"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533A834-143F-7B41-CAE5-4F88A81E0400}"/>
                  </a:ext>
                </a:extLst>
              </p:cNvPr>
              <p:cNvCxnSpPr>
                <a:cxnSpLocks/>
              </p:cNvCxnSpPr>
              <p:nvPr/>
            </p:nvCxnSpPr>
            <p:spPr>
              <a:xfrm flipH="1">
                <a:off x="4530385" y="2465426"/>
                <a:ext cx="1565615"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19F5B7C8-A402-32B0-0DA4-D5480686FBE5}"/>
                  </a:ext>
                </a:extLst>
              </p:cNvPr>
              <p:cNvSpPr txBox="1"/>
              <p:nvPr/>
            </p:nvSpPr>
            <p:spPr>
              <a:xfrm>
                <a:off x="4362805" y="1392703"/>
                <a:ext cx="1733195" cy="584775"/>
              </a:xfrm>
              <a:prstGeom prst="rect">
                <a:avLst/>
              </a:prstGeom>
              <a:noFill/>
              <a:ln>
                <a:noFill/>
              </a:ln>
            </p:spPr>
            <p:txBody>
              <a:bodyPr wrap="square" rtlCol="0">
                <a:spAutoFit/>
              </a:bodyPr>
              <a:lstStyle/>
              <a:p>
                <a:pPr algn="ctr"/>
                <a:r>
                  <a:rPr lang="en-GB" sz="1600" dirty="0">
                    <a:latin typeface="Times New Roman" panose="02020603050405020304" pitchFamily="18" charset="0"/>
                    <a:cs typeface="Times New Roman" panose="02020603050405020304" pitchFamily="18" charset="0"/>
                  </a:rPr>
                  <a:t>Presentation of 2 shifted sounds</a:t>
                </a:r>
              </a:p>
            </p:txBody>
          </p:sp>
          <p:sp>
            <p:nvSpPr>
              <p:cNvPr id="40" name="TextBox 39">
                <a:extLst>
                  <a:ext uri="{FF2B5EF4-FFF2-40B4-BE49-F238E27FC236}">
                    <a16:creationId xmlns:a16="http://schemas.microsoft.com/office/drawing/2014/main" id="{3FD52B17-62D7-F98F-5615-68F4004BD402}"/>
                  </a:ext>
                </a:extLst>
              </p:cNvPr>
              <p:cNvSpPr txBox="1"/>
              <p:nvPr/>
            </p:nvSpPr>
            <p:spPr>
              <a:xfrm>
                <a:off x="4362805" y="2687212"/>
                <a:ext cx="1733195" cy="584775"/>
              </a:xfrm>
              <a:prstGeom prst="rect">
                <a:avLst/>
              </a:prstGeom>
              <a:noFill/>
              <a:ln>
                <a:noFill/>
              </a:ln>
            </p:spPr>
            <p:txBody>
              <a:bodyPr wrap="square" rtlCol="0">
                <a:spAutoFit/>
              </a:bodyPr>
              <a:lstStyle/>
              <a:p>
                <a:pPr algn="ctr"/>
                <a:r>
                  <a:rPr lang="en-GB" sz="1600" dirty="0">
                    <a:latin typeface="Times New Roman" panose="02020603050405020304" pitchFamily="18" charset="0"/>
                    <a:cs typeface="Times New Roman" panose="02020603050405020304" pitchFamily="18" charset="0"/>
                  </a:rPr>
                  <a:t>Subjective evaluation</a:t>
                </a:r>
              </a:p>
            </p:txBody>
          </p:sp>
          <p:sp>
            <p:nvSpPr>
              <p:cNvPr id="41" name="TextBox 40">
                <a:extLst>
                  <a:ext uri="{FF2B5EF4-FFF2-40B4-BE49-F238E27FC236}">
                    <a16:creationId xmlns:a16="http://schemas.microsoft.com/office/drawing/2014/main" id="{ABAAC3BC-646E-4AF2-EBDE-564658FC5F63}"/>
                  </a:ext>
                </a:extLst>
              </p:cNvPr>
              <p:cNvSpPr txBox="1"/>
              <p:nvPr/>
            </p:nvSpPr>
            <p:spPr>
              <a:xfrm>
                <a:off x="6203351" y="2215667"/>
                <a:ext cx="1054626" cy="338554"/>
              </a:xfrm>
              <a:prstGeom prst="rect">
                <a:avLst/>
              </a:prstGeom>
              <a:solidFill>
                <a:schemeClr val="bg1"/>
              </a:solidFill>
              <a:ln w="28575">
                <a:solidFill>
                  <a:schemeClr val="tx1"/>
                </a:solidFill>
              </a:ln>
            </p:spPr>
            <p:txBody>
              <a:bodyPr wrap="square" rtlCol="0">
                <a:spAutoFit/>
              </a:bodyPr>
              <a:lstStyle/>
              <a:p>
                <a:pPr algn="ctr"/>
                <a:r>
                  <a:rPr lang="en-GB" sz="1600" b="1" dirty="0">
                    <a:latin typeface="Times New Roman" panose="02020603050405020304" pitchFamily="18" charset="0"/>
                    <a:cs typeface="Times New Roman" panose="02020603050405020304" pitchFamily="18" charset="0"/>
                  </a:rPr>
                  <a:t>Sample 1</a:t>
                </a:r>
              </a:p>
            </p:txBody>
          </p:sp>
          <p:sp>
            <p:nvSpPr>
              <p:cNvPr id="42" name="TextBox 41">
                <a:extLst>
                  <a:ext uri="{FF2B5EF4-FFF2-40B4-BE49-F238E27FC236}">
                    <a16:creationId xmlns:a16="http://schemas.microsoft.com/office/drawing/2014/main" id="{8D7598AB-ACF0-8171-1DB0-BF663C7D8C1F}"/>
                  </a:ext>
                </a:extLst>
              </p:cNvPr>
              <p:cNvSpPr txBox="1"/>
              <p:nvPr/>
            </p:nvSpPr>
            <p:spPr>
              <a:xfrm>
                <a:off x="7404624" y="2215667"/>
                <a:ext cx="1065498" cy="338554"/>
              </a:xfrm>
              <a:prstGeom prst="rect">
                <a:avLst/>
              </a:prstGeom>
              <a:solidFill>
                <a:schemeClr val="bg1"/>
              </a:solidFill>
              <a:ln w="28575">
                <a:solidFill>
                  <a:schemeClr val="tx1"/>
                </a:solidFill>
              </a:ln>
            </p:spPr>
            <p:txBody>
              <a:bodyPr wrap="square" rtlCol="0">
                <a:spAutoFit/>
              </a:bodyPr>
              <a:lstStyle/>
              <a:p>
                <a:pPr algn="ctr"/>
                <a:r>
                  <a:rPr lang="en-GB" sz="1600" b="1" dirty="0">
                    <a:latin typeface="Times New Roman" panose="02020603050405020304" pitchFamily="18" charset="0"/>
                    <a:cs typeface="Times New Roman" panose="02020603050405020304" pitchFamily="18" charset="0"/>
                  </a:rPr>
                  <a:t>Sample 2</a:t>
                </a:r>
              </a:p>
            </p:txBody>
          </p:sp>
          <p:sp>
            <p:nvSpPr>
              <p:cNvPr id="43" name="TextBox 42">
                <a:extLst>
                  <a:ext uri="{FF2B5EF4-FFF2-40B4-BE49-F238E27FC236}">
                    <a16:creationId xmlns:a16="http://schemas.microsoft.com/office/drawing/2014/main" id="{EE5C042C-818E-424B-D4FE-4940625F6F81}"/>
                  </a:ext>
                </a:extLst>
              </p:cNvPr>
              <p:cNvSpPr txBox="1"/>
              <p:nvPr/>
            </p:nvSpPr>
            <p:spPr>
              <a:xfrm>
                <a:off x="6095999" y="2744958"/>
                <a:ext cx="2487899" cy="584775"/>
              </a:xfrm>
              <a:prstGeom prst="rect">
                <a:avLst/>
              </a:prstGeom>
              <a:noFill/>
              <a:ln>
                <a:noFill/>
              </a:ln>
            </p:spPr>
            <p:txBody>
              <a:bodyPr wrap="square" rtlCol="0" anchor="ctr">
                <a:spAutoFit/>
              </a:bodyPr>
              <a:lstStyle/>
              <a:p>
                <a:pPr algn="ctr"/>
                <a:r>
                  <a:rPr lang="en-GB" sz="1600" dirty="0">
                    <a:solidFill>
                      <a:schemeClr val="accent1"/>
                    </a:solidFill>
                    <a:latin typeface="Times New Roman" panose="02020603050405020304" pitchFamily="18" charset="0"/>
                    <a:cs typeface="Times New Roman" panose="02020603050405020304" pitchFamily="18" charset="0"/>
                  </a:rPr>
                  <a:t>“Which one has the best sound quality?”</a:t>
                </a:r>
              </a:p>
            </p:txBody>
          </p:sp>
        </p:grpSp>
        <p:sp>
          <p:nvSpPr>
            <p:cNvPr id="127" name="TextBox 126">
              <a:extLst>
                <a:ext uri="{FF2B5EF4-FFF2-40B4-BE49-F238E27FC236}">
                  <a16:creationId xmlns:a16="http://schemas.microsoft.com/office/drawing/2014/main" id="{5CB552D4-6296-BA11-7B93-A3E8C996E5A2}"/>
                </a:ext>
              </a:extLst>
            </p:cNvPr>
            <p:cNvSpPr txBox="1"/>
            <p:nvPr/>
          </p:nvSpPr>
          <p:spPr>
            <a:xfrm>
              <a:off x="14073372" y="19395402"/>
              <a:ext cx="6708991"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Figure 2. </a:t>
              </a:r>
              <a:r>
                <a:rPr lang="en-GB" dirty="0">
                  <a:latin typeface="Times New Roman" panose="02020603050405020304" pitchFamily="18" charset="0"/>
                  <a:cs typeface="Times New Roman" panose="02020603050405020304" pitchFamily="18" charset="0"/>
                </a:rPr>
                <a:t>A scheme of the interactive differential evolution method.</a:t>
              </a:r>
            </a:p>
          </p:txBody>
        </p:sp>
      </p:grpSp>
      <p:grpSp>
        <p:nvGrpSpPr>
          <p:cNvPr id="172" name="Group 171">
            <a:extLst>
              <a:ext uri="{FF2B5EF4-FFF2-40B4-BE49-F238E27FC236}">
                <a16:creationId xmlns:a16="http://schemas.microsoft.com/office/drawing/2014/main" id="{0E65BB16-3D30-AEB1-079C-FB6F5B4D1B84}"/>
              </a:ext>
            </a:extLst>
          </p:cNvPr>
          <p:cNvGrpSpPr/>
          <p:nvPr/>
        </p:nvGrpSpPr>
        <p:grpSpPr>
          <a:xfrm>
            <a:off x="560815" y="5695087"/>
            <a:ext cx="20243068" cy="5768593"/>
            <a:chOff x="560815" y="5695087"/>
            <a:chExt cx="20243068" cy="5768593"/>
          </a:xfrm>
        </p:grpSpPr>
        <p:grpSp>
          <p:nvGrpSpPr>
            <p:cNvPr id="60" name="Group 59">
              <a:extLst>
                <a:ext uri="{FF2B5EF4-FFF2-40B4-BE49-F238E27FC236}">
                  <a16:creationId xmlns:a16="http://schemas.microsoft.com/office/drawing/2014/main" id="{33692E23-2062-16E8-FF87-949264333BFC}"/>
                </a:ext>
              </a:extLst>
            </p:cNvPr>
            <p:cNvGrpSpPr/>
            <p:nvPr/>
          </p:nvGrpSpPr>
          <p:grpSpPr>
            <a:xfrm>
              <a:off x="579743" y="5695087"/>
              <a:ext cx="20224140" cy="4570482"/>
              <a:chOff x="579742" y="4683208"/>
              <a:chExt cx="20224140" cy="4570482"/>
            </a:xfrm>
          </p:grpSpPr>
          <p:sp>
            <p:nvSpPr>
              <p:cNvPr id="7" name="TextBox 6">
                <a:extLst>
                  <a:ext uri="{FF2B5EF4-FFF2-40B4-BE49-F238E27FC236}">
                    <a16:creationId xmlns:a16="http://schemas.microsoft.com/office/drawing/2014/main" id="{BA707998-26D7-2871-A8FF-35B700204FDA}"/>
                  </a:ext>
                </a:extLst>
              </p:cNvPr>
              <p:cNvSpPr txBox="1"/>
              <p:nvPr/>
            </p:nvSpPr>
            <p:spPr>
              <a:xfrm>
                <a:off x="579742" y="4683208"/>
                <a:ext cx="20224140" cy="4570482"/>
              </a:xfrm>
              <a:prstGeom prst="rect">
                <a:avLst/>
              </a:prstGeom>
              <a:noFill/>
            </p:spPr>
            <p:txBody>
              <a:bodyPr wrap="square">
                <a:spAutoFit/>
              </a:bodyPr>
              <a:lstStyle/>
              <a:p>
                <a:pPr algn="just">
                  <a:spcAft>
                    <a:spcPts val="600"/>
                  </a:spcAft>
                </a:pPr>
                <a:r>
                  <a:rPr lang="en-FR" sz="2800" b="1" dirty="0">
                    <a:solidFill>
                      <a:schemeClr val="bg1"/>
                    </a:solidFill>
                    <a:effectLst/>
                    <a:highlight>
                      <a:srgbClr val="003E74"/>
                    </a:highlight>
                    <a:latin typeface="Times New Roman" panose="02020603050405020304" pitchFamily="18" charset="0"/>
                    <a:ea typeface="Times New Roman" panose="02020603050405020304" pitchFamily="18" charset="0"/>
                    <a:cs typeface="Times New Roman" panose="02020603050405020304" pitchFamily="18" charset="0"/>
                  </a:rPr>
                  <a:t>Introduction</a:t>
                </a:r>
                <a:endParaRPr lang="en-FR" sz="2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FR" sz="2200" dirty="0">
                    <a:latin typeface="Times New Roman" panose="02020603050405020304" pitchFamily="18" charset="0"/>
                    <a:cs typeface="Times New Roman" panose="02020603050405020304" pitchFamily="18" charset="0"/>
                  </a:rPr>
                  <a:t>Although many cochlear implant (CI) recipients can achieve high levels of speech perception in quiet, performance tends to be poorer for more complex listening situations. The signal processing is responsible for some of the difficulties but there are other factors that can potentially be addressed by re-programming if there is a good understanding of the issue faced. Some of these factors include the frequency-to-place mismatch (FTPM) between frequencies presented and the intended characteristic frequency and compromised electrode-neuron interface (ENI). </a:t>
                </a:r>
              </a:p>
              <a:p>
                <a:pPr algn="just">
                  <a:spcAft>
                    <a:spcPts val="600"/>
                  </a:spcAft>
                </a:pPr>
                <a:r>
                  <a:rPr lang="en-GB" sz="2200" dirty="0">
                    <a:latin typeface="Times New Roman" panose="02020603050405020304" pitchFamily="18" charset="0"/>
                    <a:cs typeface="Times New Roman" panose="02020603050405020304" pitchFamily="18" charset="0"/>
                  </a:rPr>
                  <a:t>The impact on perceptual abilities of FTPM is already well documented: it limits speech performance in CI users and in normal hearing (NH) subjects listening to CI simulations [1] and could partially affect poor melody encoding by CI patients [2]. Moreover, evidence suggests that a significant FTPM reduces sound quality and increases the time and rate at which users reach asymptotic level of speech perception. </a:t>
                </a:r>
                <a:r>
                  <a:rPr lang="en-FR" sz="2200" dirty="0">
                    <a:latin typeface="Times New Roman" panose="02020603050405020304" pitchFamily="18" charset="0"/>
                    <a:cs typeface="Times New Roman" panose="02020603050405020304" pitchFamily="18" charset="0"/>
                  </a:rPr>
                  <a:t>Unfortunately, </a:t>
                </a:r>
                <a:r>
                  <a:rPr lang="en-US" sz="2200" dirty="0">
                    <a:latin typeface="Times New Roman" panose="02020603050405020304" pitchFamily="18" charset="0"/>
                    <a:cs typeface="Times New Roman" panose="02020603050405020304" pitchFamily="18" charset="0"/>
                  </a:rPr>
                  <a:t>FTPM is </a:t>
                </a:r>
                <a:r>
                  <a:rPr lang="en-FR" sz="2200" dirty="0">
                    <a:latin typeface="Times New Roman" panose="02020603050405020304" pitchFamily="18" charset="0"/>
                    <a:cs typeface="Times New Roman" panose="02020603050405020304" pitchFamily="18" charset="0"/>
                  </a:rPr>
                  <a:t>not easily investigated in routine clinical work. This research explores whether modifications </a:t>
                </a:r>
                <a:r>
                  <a:rPr lang="en-US" sz="2200" dirty="0">
                    <a:latin typeface="Times New Roman" panose="02020603050405020304" pitchFamily="18" charset="0"/>
                    <a:cs typeface="Times New Roman" panose="02020603050405020304" pitchFamily="18" charset="0"/>
                  </a:rPr>
                  <a:t>of the frequency content distribution</a:t>
                </a:r>
                <a:r>
                  <a:rPr lang="en-FR" sz="2200" dirty="0">
                    <a:latin typeface="Times New Roman" panose="02020603050405020304" pitchFamily="18" charset="0"/>
                    <a:cs typeface="Times New Roman" panose="02020603050405020304" pitchFamily="18" charset="0"/>
                  </a:rPr>
                  <a:t> can be used to explore this distortion. </a:t>
                </a:r>
              </a:p>
              <a:p>
                <a:pPr algn="just">
                  <a:spcAft>
                    <a:spcPts val="600"/>
                  </a:spcAft>
                </a:pPr>
                <a:endParaRPr lang="en-FR" sz="2200" dirty="0">
                  <a:latin typeface="Times New Roman" panose="02020603050405020304" pitchFamily="18" charset="0"/>
                  <a:cs typeface="Times New Roman" panose="02020603050405020304" pitchFamily="18" charset="0"/>
                </a:endParaRPr>
              </a:p>
              <a:p>
                <a:pPr algn="just">
                  <a:spcAft>
                    <a:spcPts val="600"/>
                  </a:spcAft>
                </a:pPr>
                <a:endParaRPr lang="en-FR" sz="2200" dirty="0">
                  <a:latin typeface="Times New Roman" panose="02020603050405020304" pitchFamily="18" charset="0"/>
                  <a:cs typeface="Times New Roman" panose="02020603050405020304" pitchFamily="18" charset="0"/>
                </a:endParaRPr>
              </a:p>
              <a:p>
                <a:pPr algn="just"/>
                <a:endParaRPr lang="en-FR" dirty="0">
                  <a:solidFill>
                    <a:srgbClr val="000000"/>
                  </a:solidFill>
                  <a:latin typeface="Times New Roman" panose="02020603050405020304" pitchFamily="18" charset="0"/>
                  <a:ea typeface="Times New Roman" panose="02020603050405020304" pitchFamily="18" charset="0"/>
                  <a:cs typeface="Calibri" panose="020F0502020204030204" pitchFamily="34" charset="0"/>
                </a:endParaRPr>
              </a:p>
            </p:txBody>
          </p:sp>
          <p:sp>
            <p:nvSpPr>
              <p:cNvPr id="59" name="TextBox 58">
                <a:extLst>
                  <a:ext uri="{FF2B5EF4-FFF2-40B4-BE49-F238E27FC236}">
                    <a16:creationId xmlns:a16="http://schemas.microsoft.com/office/drawing/2014/main" id="{08E51D3E-1496-1B4B-1BCC-140AEAFEA116}"/>
                  </a:ext>
                </a:extLst>
              </p:cNvPr>
              <p:cNvSpPr txBox="1"/>
              <p:nvPr/>
            </p:nvSpPr>
            <p:spPr>
              <a:xfrm>
                <a:off x="603800" y="8255369"/>
                <a:ext cx="12508056" cy="830997"/>
              </a:xfrm>
              <a:prstGeom prst="rect">
                <a:avLst/>
              </a:prstGeom>
              <a:solidFill>
                <a:srgbClr val="DBE4F4"/>
              </a:solidFill>
              <a:ln w="28575">
                <a:solidFill>
                  <a:schemeClr val="tx1"/>
                </a:solidFill>
              </a:ln>
            </p:spPr>
            <p:txBody>
              <a:bodyPr wrap="square" anchor="ctr">
                <a:spAutoFit/>
              </a:bodyPr>
              <a:lstStyle/>
              <a:p>
                <a:pPr algn="just"/>
                <a:r>
                  <a:rPr lang="en-GB" sz="2400" b="1" dirty="0">
                    <a:latin typeface="Times New Roman" panose="02020603050405020304" pitchFamily="18" charset="0"/>
                    <a:cs typeface="Times New Roman" panose="02020603050405020304" pitchFamily="18" charset="0"/>
                  </a:rPr>
                  <a:t>The goal of this pilot study is to investigate the relationship between the degree of frequency-to-place mismatch and a previously frequency shifted degree. </a:t>
                </a:r>
                <a:endParaRPr lang="en-FR" sz="2400" b="1" dirty="0">
                  <a:latin typeface="Times New Roman" panose="02020603050405020304" pitchFamily="18" charset="0"/>
                  <a:cs typeface="Times New Roman" panose="02020603050405020304" pitchFamily="18" charset="0"/>
                </a:endParaRPr>
              </a:p>
            </p:txBody>
          </p:sp>
        </p:grpSp>
        <p:sp>
          <p:nvSpPr>
            <p:cNvPr id="170" name="TextBox 169">
              <a:extLst>
                <a:ext uri="{FF2B5EF4-FFF2-40B4-BE49-F238E27FC236}">
                  <a16:creationId xmlns:a16="http://schemas.microsoft.com/office/drawing/2014/main" id="{2C3E823F-C82F-2DE6-BF8C-7ECD9EB39CFA}"/>
                </a:ext>
              </a:extLst>
            </p:cNvPr>
            <p:cNvSpPr txBox="1"/>
            <p:nvPr/>
          </p:nvSpPr>
          <p:spPr>
            <a:xfrm>
              <a:off x="560815" y="10355684"/>
              <a:ext cx="12594028" cy="1107996"/>
            </a:xfrm>
            <a:prstGeom prst="rect">
              <a:avLst/>
            </a:prstGeom>
            <a:noFill/>
          </p:spPr>
          <p:txBody>
            <a:bodyPr wrap="square">
              <a:spAutoFit/>
            </a:bodyPr>
            <a:lstStyle/>
            <a:p>
              <a:pPr algn="just">
                <a:spcAft>
                  <a:spcPts val="600"/>
                </a:spcAft>
              </a:pPr>
              <a:r>
                <a:rPr lang="en-GB" sz="2200" b="1" dirty="0">
                  <a:latin typeface="Times New Roman" panose="02020603050405020304" pitchFamily="18" charset="0"/>
                  <a:cs typeface="Times New Roman" panose="02020603050405020304" pitchFamily="18" charset="0"/>
                </a:rPr>
                <a:t>To this end, our first hypothesis is that a better sound quality should be obtained with a lower FTPM.  Our second hypothesis is that a lower FTPM could be obtained by moving the frequency information inside a sound.  </a:t>
              </a:r>
              <a:endParaRPr lang="en-FR" sz="2200" b="1" dirty="0">
                <a:latin typeface="Times New Roman" panose="02020603050405020304" pitchFamily="18" charset="0"/>
                <a:cs typeface="Times New Roman" panose="02020603050405020304" pitchFamily="18" charset="0"/>
              </a:endParaRPr>
            </a:p>
          </p:txBody>
        </p:sp>
      </p:grpSp>
      <p:grpSp>
        <p:nvGrpSpPr>
          <p:cNvPr id="175" name="Group 174">
            <a:extLst>
              <a:ext uri="{FF2B5EF4-FFF2-40B4-BE49-F238E27FC236}">
                <a16:creationId xmlns:a16="http://schemas.microsoft.com/office/drawing/2014/main" id="{5A74DAA5-EE27-FEF7-6D61-1AEC307E2769}"/>
              </a:ext>
            </a:extLst>
          </p:cNvPr>
          <p:cNvGrpSpPr/>
          <p:nvPr/>
        </p:nvGrpSpPr>
        <p:grpSpPr>
          <a:xfrm>
            <a:off x="13907568" y="9482117"/>
            <a:ext cx="6645243" cy="5392212"/>
            <a:chOff x="13907569" y="9587592"/>
            <a:chExt cx="6645243" cy="5392212"/>
          </a:xfrm>
        </p:grpSpPr>
        <p:grpSp>
          <p:nvGrpSpPr>
            <p:cNvPr id="131" name="Group 130">
              <a:extLst>
                <a:ext uri="{FF2B5EF4-FFF2-40B4-BE49-F238E27FC236}">
                  <a16:creationId xmlns:a16="http://schemas.microsoft.com/office/drawing/2014/main" id="{CE8B0930-792A-4312-D49A-8C578F93A564}"/>
                </a:ext>
              </a:extLst>
            </p:cNvPr>
            <p:cNvGrpSpPr/>
            <p:nvPr/>
          </p:nvGrpSpPr>
          <p:grpSpPr>
            <a:xfrm>
              <a:off x="13907569" y="9587592"/>
              <a:ext cx="6645243" cy="5392212"/>
              <a:chOff x="13718015" y="10855885"/>
              <a:chExt cx="6645243" cy="5392212"/>
            </a:xfrm>
          </p:grpSpPr>
          <p:grpSp>
            <p:nvGrpSpPr>
              <p:cNvPr id="77" name="Group 76">
                <a:extLst>
                  <a:ext uri="{FF2B5EF4-FFF2-40B4-BE49-F238E27FC236}">
                    <a16:creationId xmlns:a16="http://schemas.microsoft.com/office/drawing/2014/main" id="{95D9D8B6-278C-5A4E-873A-5AB8E1AD454A}"/>
                  </a:ext>
                </a:extLst>
              </p:cNvPr>
              <p:cNvGrpSpPr/>
              <p:nvPr/>
            </p:nvGrpSpPr>
            <p:grpSpPr>
              <a:xfrm>
                <a:off x="13718015" y="10855885"/>
                <a:ext cx="6482741" cy="4838214"/>
                <a:chOff x="1449088" y="330705"/>
                <a:chExt cx="6482741" cy="4838214"/>
              </a:xfrm>
            </p:grpSpPr>
            <p:sp>
              <p:nvSpPr>
                <p:cNvPr id="78" name="TextBox 77">
                  <a:extLst>
                    <a:ext uri="{FF2B5EF4-FFF2-40B4-BE49-F238E27FC236}">
                      <a16:creationId xmlns:a16="http://schemas.microsoft.com/office/drawing/2014/main" id="{0A340B26-FE64-455E-607E-B849B3EDA128}"/>
                    </a:ext>
                  </a:extLst>
                </p:cNvPr>
                <p:cNvSpPr txBox="1"/>
                <p:nvPr/>
              </p:nvSpPr>
              <p:spPr>
                <a:xfrm>
                  <a:off x="1859870" y="921602"/>
                  <a:ext cx="6071959" cy="4247317"/>
                </a:xfrm>
                <a:prstGeom prst="rect">
                  <a:avLst/>
                </a:prstGeom>
                <a:solidFill>
                  <a:schemeClr val="accent1">
                    <a:lumMod val="20000"/>
                    <a:lumOff val="80000"/>
                  </a:schemeClr>
                </a:solidFill>
                <a:ln w="28575">
                  <a:solidFill>
                    <a:schemeClr val="tx1"/>
                  </a:solidFill>
                </a:ln>
              </p:spPr>
              <p:txBody>
                <a:bodyPr wrap="square" rtlCol="0">
                  <a:spAutoFit/>
                </a:bodyPr>
                <a:lstStyle/>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p:txBody>
            </p:sp>
            <p:sp>
              <p:nvSpPr>
                <p:cNvPr id="79" name="TextBox 78">
                  <a:extLst>
                    <a:ext uri="{FF2B5EF4-FFF2-40B4-BE49-F238E27FC236}">
                      <a16:creationId xmlns:a16="http://schemas.microsoft.com/office/drawing/2014/main" id="{DBFFB407-B105-0DFB-1FFA-58CC0D5F4440}"/>
                    </a:ext>
                  </a:extLst>
                </p:cNvPr>
                <p:cNvSpPr txBox="1"/>
                <p:nvPr/>
              </p:nvSpPr>
              <p:spPr>
                <a:xfrm>
                  <a:off x="2146300" y="1290935"/>
                  <a:ext cx="5499100" cy="1754326"/>
                </a:xfrm>
                <a:prstGeom prst="rect">
                  <a:avLst/>
                </a:prstGeom>
                <a:solidFill>
                  <a:schemeClr val="bg1">
                    <a:lumMod val="95000"/>
                  </a:schemeClr>
                </a:solidFill>
                <a:ln w="28575">
                  <a:solidFill>
                    <a:schemeClr val="tx1"/>
                  </a:solidFill>
                </a:ln>
              </p:spPr>
              <p:txBody>
                <a:bodyPr wrap="square" rtlCol="0">
                  <a:spAutoFit/>
                </a:bodyPr>
                <a:lstStyle/>
                <a:p>
                  <a:pPr algn="ctr"/>
                  <a:r>
                    <a:rPr lang="en-GB" b="1" dirty="0">
                      <a:latin typeface="Times New Roman" panose="02020603050405020304" pitchFamily="18" charset="0"/>
                      <a:cs typeface="Times New Roman" panose="02020603050405020304" pitchFamily="18" charset="0"/>
                    </a:rPr>
                    <a:t>Frequency Shift</a:t>
                  </a: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C97C3A69-66C9-C18D-ABAF-4DC56594C5DA}"/>
                    </a:ext>
                  </a:extLst>
                </p:cNvPr>
                <p:cNvSpPr txBox="1"/>
                <p:nvPr/>
              </p:nvSpPr>
              <p:spPr>
                <a:xfrm>
                  <a:off x="2286000" y="1689100"/>
                  <a:ext cx="5243742" cy="338554"/>
                </a:xfrm>
                <a:prstGeom prst="rect">
                  <a:avLst/>
                </a:prstGeom>
                <a:solidFill>
                  <a:schemeClr val="bg1"/>
                </a:solidFill>
                <a:ln>
                  <a:solidFill>
                    <a:schemeClr val="tx1"/>
                  </a:solidFill>
                </a:ln>
              </p:spPr>
              <p:txBody>
                <a:bodyPr wrap="square" rtlCol="0">
                  <a:spAutoFit/>
                </a:bodyPr>
                <a:lstStyle/>
                <a:p>
                  <a:r>
                    <a:rPr lang="en-GB" sz="1600" u="sng" dirty="0">
                      <a:latin typeface="Times New Roman" panose="02020603050405020304" pitchFamily="18" charset="0"/>
                      <a:cs typeface="Times New Roman" panose="02020603050405020304" pitchFamily="18" charset="0"/>
                    </a:rPr>
                    <a:t>Parameter 1</a:t>
                  </a:r>
                  <a:r>
                    <a:rPr lang="en-GB" sz="1600" dirty="0">
                      <a:latin typeface="Times New Roman" panose="02020603050405020304" pitchFamily="18" charset="0"/>
                      <a:cs typeface="Times New Roman" panose="02020603050405020304" pitchFamily="18" charset="0"/>
                    </a:rPr>
                    <a:t> Linear Frequency shift (20Hz - 20kHz) </a:t>
                  </a:r>
                </a:p>
              </p:txBody>
            </p:sp>
            <p:sp>
              <p:nvSpPr>
                <p:cNvPr id="81" name="TextBox 80">
                  <a:extLst>
                    <a:ext uri="{FF2B5EF4-FFF2-40B4-BE49-F238E27FC236}">
                      <a16:creationId xmlns:a16="http://schemas.microsoft.com/office/drawing/2014/main" id="{85E88CC1-10BC-54F6-627F-D6B239528593}"/>
                    </a:ext>
                  </a:extLst>
                </p:cNvPr>
                <p:cNvSpPr txBox="1"/>
                <p:nvPr/>
              </p:nvSpPr>
              <p:spPr>
                <a:xfrm>
                  <a:off x="2285999" y="2103398"/>
                  <a:ext cx="5243743" cy="338554"/>
                </a:xfrm>
                <a:prstGeom prst="rect">
                  <a:avLst/>
                </a:prstGeom>
                <a:solidFill>
                  <a:schemeClr val="bg1"/>
                </a:solidFill>
                <a:ln>
                  <a:solidFill>
                    <a:schemeClr val="tx1"/>
                  </a:solidFill>
                </a:ln>
              </p:spPr>
              <p:txBody>
                <a:bodyPr wrap="square" rtlCol="0">
                  <a:spAutoFit/>
                </a:bodyPr>
                <a:lstStyle/>
                <a:p>
                  <a:r>
                    <a:rPr lang="en-GB" sz="1600" u="sng" dirty="0">
                      <a:latin typeface="Times New Roman" panose="02020603050405020304" pitchFamily="18" charset="0"/>
                      <a:cs typeface="Times New Roman" panose="02020603050405020304" pitchFamily="18" charset="0"/>
                    </a:rPr>
                    <a:t>Parameter 2</a:t>
                  </a:r>
                  <a:r>
                    <a:rPr lang="en-GB" sz="1600" dirty="0">
                      <a:latin typeface="Times New Roman" panose="02020603050405020304" pitchFamily="18" charset="0"/>
                      <a:cs typeface="Times New Roman" panose="02020603050405020304" pitchFamily="18" charset="0"/>
                    </a:rPr>
                    <a:t> Non-Linear Frequency Shift (20Hz – 600Hz)</a:t>
                  </a:r>
                </a:p>
              </p:txBody>
            </p:sp>
            <p:sp>
              <p:nvSpPr>
                <p:cNvPr id="82" name="TextBox 81">
                  <a:extLst>
                    <a:ext uri="{FF2B5EF4-FFF2-40B4-BE49-F238E27FC236}">
                      <a16:creationId xmlns:a16="http://schemas.microsoft.com/office/drawing/2014/main" id="{D5A54034-9E27-55D7-7BF4-911791886290}"/>
                    </a:ext>
                  </a:extLst>
                </p:cNvPr>
                <p:cNvSpPr txBox="1"/>
                <p:nvPr/>
              </p:nvSpPr>
              <p:spPr>
                <a:xfrm>
                  <a:off x="2286000" y="2517696"/>
                  <a:ext cx="5243742" cy="338554"/>
                </a:xfrm>
                <a:prstGeom prst="rect">
                  <a:avLst/>
                </a:prstGeom>
                <a:solidFill>
                  <a:schemeClr val="bg1"/>
                </a:solidFill>
                <a:ln>
                  <a:solidFill>
                    <a:schemeClr val="tx1"/>
                  </a:solidFill>
                </a:ln>
              </p:spPr>
              <p:txBody>
                <a:bodyPr wrap="square" rtlCol="0">
                  <a:spAutoFit/>
                </a:bodyPr>
                <a:lstStyle/>
                <a:p>
                  <a:r>
                    <a:rPr lang="en-GB" sz="1600" u="sng" dirty="0">
                      <a:latin typeface="Times New Roman" panose="02020603050405020304" pitchFamily="18" charset="0"/>
                      <a:cs typeface="Times New Roman" panose="02020603050405020304" pitchFamily="18" charset="0"/>
                    </a:rPr>
                    <a:t>Parameter 3</a:t>
                  </a:r>
                  <a:r>
                    <a:rPr lang="en-GB" sz="1600" dirty="0">
                      <a:latin typeface="Times New Roman" panose="02020603050405020304" pitchFamily="18" charset="0"/>
                      <a:cs typeface="Times New Roman" panose="02020603050405020304" pitchFamily="18" charset="0"/>
                    </a:rPr>
                    <a:t> Non-Linear Frequency Shift (1.5kHz – 20kHz) </a:t>
                  </a:r>
                </a:p>
              </p:txBody>
            </p:sp>
            <p:sp>
              <p:nvSpPr>
                <p:cNvPr id="83" name="TextBox 82">
                  <a:extLst>
                    <a:ext uri="{FF2B5EF4-FFF2-40B4-BE49-F238E27FC236}">
                      <a16:creationId xmlns:a16="http://schemas.microsoft.com/office/drawing/2014/main" id="{E74C8FCE-26B4-16F2-5991-2F15FC76864D}"/>
                    </a:ext>
                  </a:extLst>
                </p:cNvPr>
                <p:cNvSpPr txBox="1"/>
                <p:nvPr/>
              </p:nvSpPr>
              <p:spPr>
                <a:xfrm>
                  <a:off x="2825069" y="330705"/>
                  <a:ext cx="1886630" cy="369332"/>
                </a:xfrm>
                <a:prstGeom prst="rect">
                  <a:avLst/>
                </a:prstGeom>
                <a:gradFill flip="none" rotWithShape="1">
                  <a:gsLst>
                    <a:gs pos="0">
                      <a:srgbClr val="FF7E79">
                        <a:tint val="66000"/>
                        <a:satMod val="160000"/>
                      </a:srgbClr>
                    </a:gs>
                    <a:gs pos="50000">
                      <a:srgbClr val="FF7E79">
                        <a:tint val="44500"/>
                        <a:satMod val="160000"/>
                      </a:srgbClr>
                    </a:gs>
                    <a:gs pos="100000">
                      <a:srgbClr val="FF7E79">
                        <a:tint val="23500"/>
                        <a:satMod val="160000"/>
                      </a:srgbClr>
                    </a:gs>
                  </a:gsLst>
                  <a:lin ang="2700000" scaled="1"/>
                  <a:tileRect/>
                </a:gradFill>
                <a:ln w="28575">
                  <a:solidFill>
                    <a:schemeClr val="tx1"/>
                  </a:solidFill>
                </a:ln>
              </p:spPr>
              <p:txBody>
                <a:bodyPr wrap="square" rtlCol="0">
                  <a:spAutoFit/>
                </a:bodyPr>
                <a:lstStyle/>
                <a:p>
                  <a:pPr algn="ctr"/>
                  <a:r>
                    <a:rPr lang="en-GB" dirty="0">
                      <a:latin typeface="Times New Roman" panose="02020603050405020304" pitchFamily="18" charset="0"/>
                      <a:cs typeface="Times New Roman" panose="02020603050405020304" pitchFamily="18" charset="0"/>
                    </a:rPr>
                    <a:t>Speech Female</a:t>
                  </a:r>
                </a:p>
              </p:txBody>
            </p:sp>
            <p:sp>
              <p:nvSpPr>
                <p:cNvPr id="84" name="TextBox 83">
                  <a:extLst>
                    <a:ext uri="{FF2B5EF4-FFF2-40B4-BE49-F238E27FC236}">
                      <a16:creationId xmlns:a16="http://schemas.microsoft.com/office/drawing/2014/main" id="{35F70DBB-906C-2A6D-F56C-A87908ADDA9B}"/>
                    </a:ext>
                  </a:extLst>
                </p:cNvPr>
                <p:cNvSpPr txBox="1"/>
                <p:nvPr/>
              </p:nvSpPr>
              <p:spPr>
                <a:xfrm>
                  <a:off x="5079999" y="330705"/>
                  <a:ext cx="1886630" cy="369332"/>
                </a:xfrm>
                <a:prstGeom prst="rect">
                  <a:avLst/>
                </a:prstGeom>
                <a:gradFill flip="none" rotWithShape="1">
                  <a:gsLst>
                    <a:gs pos="0">
                      <a:srgbClr val="FF7E79">
                        <a:tint val="66000"/>
                        <a:satMod val="160000"/>
                      </a:srgbClr>
                    </a:gs>
                    <a:gs pos="50000">
                      <a:srgbClr val="FF7E79">
                        <a:tint val="44500"/>
                        <a:satMod val="160000"/>
                      </a:srgbClr>
                    </a:gs>
                    <a:gs pos="100000">
                      <a:srgbClr val="FF7E79">
                        <a:tint val="23500"/>
                        <a:satMod val="160000"/>
                      </a:srgbClr>
                    </a:gs>
                  </a:gsLst>
                  <a:lin ang="2700000" scaled="1"/>
                  <a:tileRect/>
                </a:gradFill>
                <a:ln w="28575">
                  <a:solidFill>
                    <a:schemeClr val="tx1"/>
                  </a:solidFill>
                </a:ln>
              </p:spPr>
              <p:txBody>
                <a:bodyPr wrap="square" rtlCol="0" anchor="ctr">
                  <a:spAutoFit/>
                </a:bodyPr>
                <a:lstStyle/>
                <a:p>
                  <a:pPr algn="ctr"/>
                  <a:r>
                    <a:rPr lang="en-GB" dirty="0">
                      <a:latin typeface="Times New Roman" panose="02020603050405020304" pitchFamily="18" charset="0"/>
                      <a:cs typeface="Times New Roman" panose="02020603050405020304" pitchFamily="18" charset="0"/>
                    </a:rPr>
                    <a:t>Classical Music</a:t>
                  </a:r>
                </a:p>
              </p:txBody>
            </p:sp>
            <p:sp>
              <p:nvSpPr>
                <p:cNvPr id="85" name="TextBox 84">
                  <a:extLst>
                    <a:ext uri="{FF2B5EF4-FFF2-40B4-BE49-F238E27FC236}">
                      <a16:creationId xmlns:a16="http://schemas.microsoft.com/office/drawing/2014/main" id="{CFDA8C11-CCD3-B7F0-336D-8A0C42376178}"/>
                    </a:ext>
                  </a:extLst>
                </p:cNvPr>
                <p:cNvSpPr txBox="1"/>
                <p:nvPr/>
              </p:nvSpPr>
              <p:spPr>
                <a:xfrm>
                  <a:off x="2146300" y="3440350"/>
                  <a:ext cx="5499100" cy="1477328"/>
                </a:xfrm>
                <a:prstGeom prst="rect">
                  <a:avLst/>
                </a:prstGeom>
                <a:solidFill>
                  <a:schemeClr val="bg1">
                    <a:lumMod val="95000"/>
                  </a:schemeClr>
                </a:solidFill>
                <a:ln w="28575">
                  <a:solidFill>
                    <a:schemeClr val="tx1"/>
                  </a:solidFill>
                </a:ln>
              </p:spPr>
              <p:txBody>
                <a:bodyPr wrap="square" rtlCol="0">
                  <a:spAutoFit/>
                </a:bodyPr>
                <a:lstStyle/>
                <a:p>
                  <a:pPr algn="ctr"/>
                  <a:r>
                    <a:rPr lang="en-GB" b="1" dirty="0">
                      <a:latin typeface="Times New Roman" panose="02020603050405020304" pitchFamily="18" charset="0"/>
                      <a:cs typeface="Times New Roman" panose="02020603050405020304" pitchFamily="18" charset="0"/>
                    </a:rPr>
                    <a:t>Vocoder </a:t>
                  </a: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807D2BB6-F51B-63DE-EA20-D4C600C20F62}"/>
                    </a:ext>
                  </a:extLst>
                </p:cNvPr>
                <p:cNvSpPr txBox="1"/>
                <p:nvPr/>
              </p:nvSpPr>
              <p:spPr>
                <a:xfrm>
                  <a:off x="2286000" y="3857724"/>
                  <a:ext cx="5243742" cy="369332"/>
                </a:xfrm>
                <a:prstGeom prst="rect">
                  <a:avLst/>
                </a:prstGeom>
                <a:solidFill>
                  <a:schemeClr val="bg1"/>
                </a:solidFill>
                <a:ln>
                  <a:solidFill>
                    <a:schemeClr val="tx1"/>
                  </a:solidFill>
                </a:ln>
              </p:spPr>
              <p:txBody>
                <a:bodyPr wrap="square" rtlCol="0">
                  <a:spAutoFit/>
                </a:bodyPr>
                <a:lstStyle/>
                <a:p>
                  <a:pPr algn="ctr"/>
                  <a:r>
                    <a:rPr lang="en-GB" dirty="0">
                      <a:latin typeface="Times New Roman" panose="02020603050405020304" pitchFamily="18" charset="0"/>
                      <a:cs typeface="Times New Roman" panose="02020603050405020304" pitchFamily="18" charset="0"/>
                    </a:rPr>
                    <a:t>Frequency-to-place mismatch: 4 conditions</a:t>
                  </a:r>
                </a:p>
              </p:txBody>
            </p:sp>
            <p:sp>
              <p:nvSpPr>
                <p:cNvPr id="87" name="TextBox 86">
                  <a:extLst>
                    <a:ext uri="{FF2B5EF4-FFF2-40B4-BE49-F238E27FC236}">
                      <a16:creationId xmlns:a16="http://schemas.microsoft.com/office/drawing/2014/main" id="{47BEDEB5-B155-F9DA-5563-DE9AC87AAA83}"/>
                    </a:ext>
                  </a:extLst>
                </p:cNvPr>
                <p:cNvSpPr txBox="1"/>
                <p:nvPr/>
              </p:nvSpPr>
              <p:spPr>
                <a:xfrm>
                  <a:off x="2286000" y="4310459"/>
                  <a:ext cx="5243742" cy="369332"/>
                </a:xfrm>
                <a:prstGeom prst="rect">
                  <a:avLst/>
                </a:prstGeom>
                <a:solidFill>
                  <a:schemeClr val="bg1"/>
                </a:solidFill>
                <a:ln>
                  <a:solidFill>
                    <a:schemeClr val="tx1"/>
                  </a:solidFill>
                </a:ln>
              </p:spPr>
              <p:txBody>
                <a:bodyPr wrap="square" rtlCol="0">
                  <a:spAutoFit/>
                </a:bodyPr>
                <a:lstStyle/>
                <a:p>
                  <a:pPr algn="ctr"/>
                  <a:r>
                    <a:rPr lang="en-GB" dirty="0">
                      <a:latin typeface="Times New Roman" panose="02020603050405020304" pitchFamily="18" charset="0"/>
                      <a:cs typeface="Times New Roman" panose="02020603050405020304" pitchFamily="18" charset="0"/>
                    </a:rPr>
                    <a:t>Current Spread: 4 conditions</a:t>
                  </a:r>
                </a:p>
              </p:txBody>
            </p:sp>
            <p:sp>
              <p:nvSpPr>
                <p:cNvPr id="88" name="Right Arrow 87">
                  <a:extLst>
                    <a:ext uri="{FF2B5EF4-FFF2-40B4-BE49-F238E27FC236}">
                      <a16:creationId xmlns:a16="http://schemas.microsoft.com/office/drawing/2014/main" id="{FD227426-00CA-A54B-9583-611B4982B077}"/>
                    </a:ext>
                  </a:extLst>
                </p:cNvPr>
                <p:cNvSpPr/>
                <p:nvPr/>
              </p:nvSpPr>
              <p:spPr>
                <a:xfrm rot="5400000">
                  <a:off x="3584233" y="3045406"/>
                  <a:ext cx="368300" cy="3683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89" name="Right Arrow 88">
                  <a:extLst>
                    <a:ext uri="{FF2B5EF4-FFF2-40B4-BE49-F238E27FC236}">
                      <a16:creationId xmlns:a16="http://schemas.microsoft.com/office/drawing/2014/main" id="{C4FE634A-AF50-DF98-E3B3-180D42463A2A}"/>
                    </a:ext>
                  </a:extLst>
                </p:cNvPr>
                <p:cNvSpPr/>
                <p:nvPr/>
              </p:nvSpPr>
              <p:spPr>
                <a:xfrm rot="5400000">
                  <a:off x="3476626" y="815027"/>
                  <a:ext cx="583515" cy="3683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0" name="Right Arrow 89">
                  <a:extLst>
                    <a:ext uri="{FF2B5EF4-FFF2-40B4-BE49-F238E27FC236}">
                      <a16:creationId xmlns:a16="http://schemas.microsoft.com/office/drawing/2014/main" id="{2D0A102A-B42F-B711-3F09-80EA5D307FFB}"/>
                    </a:ext>
                  </a:extLst>
                </p:cNvPr>
                <p:cNvSpPr/>
                <p:nvPr/>
              </p:nvSpPr>
              <p:spPr>
                <a:xfrm rot="5400000">
                  <a:off x="5731556" y="815027"/>
                  <a:ext cx="583515" cy="3683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1" name="TextBox 90">
                  <a:extLst>
                    <a:ext uri="{FF2B5EF4-FFF2-40B4-BE49-F238E27FC236}">
                      <a16:creationId xmlns:a16="http://schemas.microsoft.com/office/drawing/2014/main" id="{4157087C-8FAC-A602-4AB6-F508B571E097}"/>
                    </a:ext>
                  </a:extLst>
                </p:cNvPr>
                <p:cNvSpPr txBox="1"/>
                <p:nvPr/>
              </p:nvSpPr>
              <p:spPr>
                <a:xfrm rot="16200000">
                  <a:off x="-489905" y="2860594"/>
                  <a:ext cx="4247317" cy="369332"/>
                </a:xfrm>
                <a:prstGeom prst="rect">
                  <a:avLst/>
                </a:prstGeom>
                <a:noFill/>
                <a:ln>
                  <a:noFill/>
                </a:ln>
              </p:spPr>
              <p:txBody>
                <a:bodyPr wrap="square" rtlCol="0">
                  <a:spAutoFit/>
                </a:bodyPr>
                <a:lstStyle/>
                <a:p>
                  <a:pPr algn="ctr"/>
                  <a:r>
                    <a:rPr lang="en-GB" b="1" dirty="0">
                      <a:latin typeface="Times New Roman" panose="02020603050405020304" pitchFamily="18" charset="0"/>
                      <a:cs typeface="Times New Roman" panose="02020603050405020304" pitchFamily="18" charset="0"/>
                    </a:rPr>
                    <a:t>Sound Processing</a:t>
                  </a:r>
                </a:p>
              </p:txBody>
            </p:sp>
          </p:grpSp>
          <p:sp>
            <p:nvSpPr>
              <p:cNvPr id="130" name="TextBox 129">
                <a:extLst>
                  <a:ext uri="{FF2B5EF4-FFF2-40B4-BE49-F238E27FC236}">
                    <a16:creationId xmlns:a16="http://schemas.microsoft.com/office/drawing/2014/main" id="{894F3B29-5153-8F89-53A1-120E706B4C41}"/>
                  </a:ext>
                </a:extLst>
              </p:cNvPr>
              <p:cNvSpPr txBox="1"/>
              <p:nvPr/>
            </p:nvSpPr>
            <p:spPr>
              <a:xfrm>
                <a:off x="13881280" y="15878765"/>
                <a:ext cx="6481978" cy="369332"/>
              </a:xfrm>
              <a:prstGeom prst="rect">
                <a:avLst/>
              </a:prstGeom>
              <a:noFill/>
            </p:spPr>
            <p:txBody>
              <a:bodyPr wrap="square" rtlCol="0">
                <a:spAutoFit/>
              </a:bodyPr>
              <a:lstStyle/>
              <a:p>
                <a:pPr algn="just"/>
                <a:r>
                  <a:rPr lang="en-GB" b="1" dirty="0">
                    <a:latin typeface="Times New Roman" panose="02020603050405020304" pitchFamily="18" charset="0"/>
                    <a:cs typeface="Times New Roman" panose="02020603050405020304" pitchFamily="18" charset="0"/>
                  </a:rPr>
                  <a:t>Figure 1. </a:t>
                </a:r>
                <a:r>
                  <a:rPr lang="en-GB" dirty="0">
                    <a:latin typeface="Times New Roman" panose="02020603050405020304" pitchFamily="18" charset="0"/>
                    <a:cs typeface="Times New Roman" panose="02020603050405020304" pitchFamily="18" charset="0"/>
                  </a:rPr>
                  <a:t>Overview of the sound processing used in this experiment.</a:t>
                </a:r>
              </a:p>
            </p:txBody>
          </p:sp>
        </p:grpSp>
        <p:sp>
          <p:nvSpPr>
            <p:cNvPr id="174" name="Right Arrow 173">
              <a:extLst>
                <a:ext uri="{FF2B5EF4-FFF2-40B4-BE49-F238E27FC236}">
                  <a16:creationId xmlns:a16="http://schemas.microsoft.com/office/drawing/2014/main" id="{2B117AB7-5502-C2F0-D39F-7BD9220EEEF0}"/>
                </a:ext>
              </a:extLst>
            </p:cNvPr>
            <p:cNvSpPr/>
            <p:nvPr/>
          </p:nvSpPr>
          <p:spPr>
            <a:xfrm rot="5400000">
              <a:off x="18297645" y="12327320"/>
              <a:ext cx="368300" cy="3683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16181486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2587</TotalTime>
  <Words>1379</Words>
  <Application>Microsoft Macintosh PowerPoint</Application>
  <PresentationFormat>Custom</PresentationFormat>
  <Paragraphs>84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Louis Villejoubert</dc:creator>
  <cp:lastModifiedBy>Louis Villejoubert</cp:lastModifiedBy>
  <cp:revision>10</cp:revision>
  <dcterms:created xsi:type="dcterms:W3CDTF">2022-08-25T15:58:33Z</dcterms:created>
  <dcterms:modified xsi:type="dcterms:W3CDTF">2026-10-11T19:33:44Z</dcterms:modified>
</cp:coreProperties>
</file>